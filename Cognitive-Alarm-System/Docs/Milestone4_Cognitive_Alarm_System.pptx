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Mon</c:v>
                  </c:pt>
                  <c:pt idx="1">
                    <c:v>Tue</c:v>
                  </c:pt>
                  <c:pt idx="2">
                    <c:v>Wed</c:v>
                  </c:pt>
                  <c:pt idx="3">
                    <c:v>Thu</c:v>
                  </c:pt>
                  <c:pt idx="4">
                    <c:v>Fri</c:v>
                  </c:pt>
                  <c:pt idx="5">
                    <c:v>Sat</c:v>
                  </c:pt>
                  <c:pt idx="6">
                    <c:v>Sun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62</c:v>
                </c:pt>
                <c:pt idx="1">
                  <c:v>68</c:v>
                </c:pt>
                <c:pt idx="2">
                  <c:v>71</c:v>
                </c:pt>
                <c:pt idx="3">
                  <c:v>75</c:v>
                </c:pt>
                <c:pt idx="4">
                  <c:v>79</c:v>
                </c:pt>
                <c:pt idx="5">
                  <c:v>83</c:v>
                </c:pt>
                <c:pt idx="6">
                  <c:v>88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4754880" cy="475488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206240"/>
            <a:ext cx="3291840" cy="329184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MILESTONE  •  WEEK 7 &amp; 8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8686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Analytics, Testing</a:t>
            </a:r>
            <a:endParaRPr lang="en-US" sz="48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Deployment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22960" y="3703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Alarm System — Milestone 4 Completion Report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4343400"/>
            <a:ext cx="0" cy="1051560"/>
          </a:xfrm>
          <a:prstGeom prst="line">
            <a:avLst/>
          </a:prstGeom>
          <a:noFill/>
          <a:ln w="12700">
            <a:solidFill>
              <a:srgbClr val="5B6B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074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Repository: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github.com/GKSJ19/Cognitive-Alarm-System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5394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Branch: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Venu_Aravind_D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5989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marks the conclusion of the internship program.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Left Off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cognitive challenges to a demonstrable product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035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Cognitive Alarm System pairs adaptive wake-up challenges with behavioral analytics to help users build better morning habits. Milestones 1–3 delivered the alarm engine, cognitive challenge modules, and habit/streak tracking. Milestone 4 closes the loop: it turns that raw activity into executive-level insight, hardens the codebase with automated tests, and ships the whole stack as a deployable, containerized platform — the final step before the product is genuinely production-ready.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949440" y="1600200"/>
            <a:ext cx="4709160" cy="841248"/>
          </a:xfrm>
          <a:prstGeom prst="roundRect">
            <a:avLst>
              <a:gd name="adj" fmla="val 8696"/>
            </a:avLst>
          </a:prstGeom>
          <a:solidFill>
            <a:srgbClr val="F4F7FD"/>
          </a:solidFill>
          <a:ln/>
        </p:spPr>
      </p:sp>
      <p:sp>
        <p:nvSpPr>
          <p:cNvPr id="6" name="Shape 4"/>
          <p:cNvSpPr/>
          <p:nvPr/>
        </p:nvSpPr>
        <p:spPr>
          <a:xfrm>
            <a:off x="7114032" y="1764792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114032" y="17647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0" y="170992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Engine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772400" y="202082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&amp; core alarm logic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949440" y="2587752"/>
            <a:ext cx="4709160" cy="841248"/>
          </a:xfrm>
          <a:prstGeom prst="roundRect">
            <a:avLst>
              <a:gd name="adj" fmla="val 8696"/>
            </a:avLst>
          </a:prstGeom>
          <a:solidFill>
            <a:srgbClr val="F4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7114032" y="2752344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7114032" y="27523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0" y="269748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Challenges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772400" y="300837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difficulty puzzles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949440" y="3575304"/>
            <a:ext cx="4709160" cy="841248"/>
          </a:xfrm>
          <a:prstGeom prst="roundRect">
            <a:avLst>
              <a:gd name="adj" fmla="val 8696"/>
            </a:avLst>
          </a:prstGeom>
          <a:solidFill>
            <a:srgbClr val="F4F7FD"/>
          </a:solidFill>
          <a:ln/>
        </p:spPr>
      </p:sp>
      <p:sp>
        <p:nvSpPr>
          <p:cNvPr id="16" name="Shape 14"/>
          <p:cNvSpPr/>
          <p:nvPr/>
        </p:nvSpPr>
        <p:spPr>
          <a:xfrm>
            <a:off x="7114032" y="3739896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7114032" y="37398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0" y="368503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 &amp; Streak Tracking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772400" y="399592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data capture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949440" y="4562856"/>
            <a:ext cx="4709160" cy="841248"/>
          </a:xfrm>
          <a:prstGeom prst="roundRect">
            <a:avLst>
              <a:gd name="adj" fmla="val 8696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114032" y="4727448"/>
            <a:ext cx="512064" cy="512064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2" name="Text 20"/>
          <p:cNvSpPr/>
          <p:nvPr/>
        </p:nvSpPr>
        <p:spPr>
          <a:xfrm>
            <a:off x="7114032" y="47274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72400" y="467258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Analytics, Testing &amp; Deployment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772400" y="498348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milestone — insight &amp; production readiness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Alarm System  •  Milestone 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 4 — Task Verification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deliverables completed and verified against the repository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64240" cy="76809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55064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550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08760" y="1554480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Dashboards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257800" y="1554480"/>
            <a:ext cx="5120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3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User, Admin &amp; Coach dashboards with KPI metrics, system health and habit indicators</a:t>
            </a:r>
            <a:endParaRPr lang="en-US" sz="1130" dirty="0"/>
          </a:p>
        </p:txBody>
      </p:sp>
      <p:sp>
        <p:nvSpPr>
          <p:cNvPr id="9" name="Shape 7"/>
          <p:cNvSpPr/>
          <p:nvPr/>
        </p:nvSpPr>
        <p:spPr>
          <a:xfrm>
            <a:off x="10515600" y="1664208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E4F4E9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0" y="166420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377440"/>
            <a:ext cx="11064240" cy="76809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2551176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5511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508760" y="2450592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&amp; Visualization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257800" y="2450592"/>
            <a:ext cx="5120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3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BarChart / ScoreGauge modules, PDF &amp; Excel export, backend BI report API</a:t>
            </a:r>
            <a:endParaRPr lang="en-US" sz="1130" dirty="0"/>
          </a:p>
        </p:txBody>
      </p:sp>
      <p:sp>
        <p:nvSpPr>
          <p:cNvPr id="16" name="Shape 14"/>
          <p:cNvSpPr/>
          <p:nvPr/>
        </p:nvSpPr>
        <p:spPr>
          <a:xfrm>
            <a:off x="10515600" y="2560320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E4F4E9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0" y="256032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3273552"/>
            <a:ext cx="11064240" cy="76809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77240" y="344728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4472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508760" y="3346704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Validation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257800" y="3346704"/>
            <a:ext cx="5120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3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unit tests for health checks, ML scaling, scoring and recommendations</a:t>
            </a:r>
            <a:endParaRPr lang="en-US" sz="1130" dirty="0"/>
          </a:p>
        </p:txBody>
      </p:sp>
      <p:sp>
        <p:nvSpPr>
          <p:cNvPr id="23" name="Shape 21"/>
          <p:cNvSpPr/>
          <p:nvPr/>
        </p:nvSpPr>
        <p:spPr>
          <a:xfrm>
            <a:off x="10515600" y="3456432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E4F4E9"/>
          </a:solidFill>
          <a:ln/>
        </p:spPr>
      </p:sp>
      <p:sp>
        <p:nvSpPr>
          <p:cNvPr id="24" name="Text 22"/>
          <p:cNvSpPr/>
          <p:nvPr/>
        </p:nvSpPr>
        <p:spPr>
          <a:xfrm>
            <a:off x="10515600" y="3456432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4169664"/>
            <a:ext cx="11064240" cy="76809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77240" y="43434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4343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508760" y="4242816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&amp; Cloud Deployment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257800" y="4242816"/>
            <a:ext cx="5120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3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 + docker-compose for FastAPI, PostgreSQL 15 and health checks</a:t>
            </a:r>
            <a:endParaRPr lang="en-US" sz="1130" dirty="0"/>
          </a:p>
        </p:txBody>
      </p:sp>
      <p:sp>
        <p:nvSpPr>
          <p:cNvPr id="30" name="Shape 28"/>
          <p:cNvSpPr/>
          <p:nvPr/>
        </p:nvSpPr>
        <p:spPr>
          <a:xfrm>
            <a:off x="10515600" y="4352544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E4F4E9"/>
          </a:solidFill>
          <a:ln/>
        </p:spPr>
      </p:sp>
      <p:sp>
        <p:nvSpPr>
          <p:cNvPr id="31" name="Text 29"/>
          <p:cNvSpPr/>
          <p:nvPr/>
        </p:nvSpPr>
        <p:spPr>
          <a:xfrm>
            <a:off x="10515600" y="4352544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8640" y="5065776"/>
            <a:ext cx="11064240" cy="76809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77240" y="523951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4" name="Text 32"/>
          <p:cNvSpPr/>
          <p:nvPr/>
        </p:nvSpPr>
        <p:spPr>
          <a:xfrm>
            <a:off x="777240" y="5239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☷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508760" y="5138928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Documentation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257800" y="5138928"/>
            <a:ext cx="5120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3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with architecture, tech stack, API docs and full M1–M4 roadmap</a:t>
            </a:r>
            <a:endParaRPr lang="en-US" sz="1130" dirty="0"/>
          </a:p>
        </p:txBody>
      </p:sp>
      <p:sp>
        <p:nvSpPr>
          <p:cNvPr id="37" name="Shape 35"/>
          <p:cNvSpPr/>
          <p:nvPr/>
        </p:nvSpPr>
        <p:spPr>
          <a:xfrm>
            <a:off x="10515600" y="5248656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E4F4E9"/>
          </a:solidFill>
          <a:ln/>
        </p:spPr>
      </p:sp>
      <p:sp>
        <p:nvSpPr>
          <p:cNvPr id="38" name="Text 36"/>
          <p:cNvSpPr/>
          <p:nvPr/>
        </p:nvSpPr>
        <p:spPr>
          <a:xfrm>
            <a:off x="10515600" y="5248656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Alarm System  •  Milestone 4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Dashboards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mobile-app / src / app / dashboard /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66160" cy="2331720"/>
          </a:xfrm>
          <a:prstGeom prst="roundRect">
            <a:avLst>
              <a:gd name="adj" fmla="val 3922"/>
            </a:avLst>
          </a:prstGeom>
          <a:solidFill>
            <a:srgbClr val="F4F7FD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78308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83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4871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8346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86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user.tsx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312724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KPIs, streak progress and habit indicators for the individual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4343400" y="1508760"/>
            <a:ext cx="3566160" cy="2331720"/>
          </a:xfrm>
          <a:prstGeom prst="roundRect">
            <a:avLst>
              <a:gd name="adj" fmla="val 3922"/>
            </a:avLst>
          </a:prstGeom>
          <a:solidFill>
            <a:srgbClr val="F4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4617720" y="178308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1783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17720" y="24871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17720" y="28346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86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admin.tsx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617720" y="312724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health stats, platform-wide usage and operational metrics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8138160" y="1508760"/>
            <a:ext cx="3566160" cy="2331720"/>
          </a:xfrm>
          <a:prstGeom prst="roundRect">
            <a:avLst>
              <a:gd name="adj" fmla="val 3922"/>
            </a:avLst>
          </a:prstGeom>
          <a:solidFill>
            <a:srgbClr val="F4F7FD"/>
          </a:solidFill>
          <a:ln/>
        </p:spPr>
      </p:sp>
      <p:sp>
        <p:nvSpPr>
          <p:cNvPr id="17" name="Shape 15"/>
          <p:cNvSpPr/>
          <p:nvPr/>
        </p:nvSpPr>
        <p:spPr>
          <a:xfrm>
            <a:off x="8412480" y="178308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0" y="1783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☆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412480" y="24871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412480" y="28346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86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coach.tsx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412480" y="312724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Cohort-level habit trends to guide coaching and interventions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548640" y="4160520"/>
            <a:ext cx="11064240" cy="182880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4343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across every role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14400" y="4800600"/>
            <a:ext cx="2514600" cy="457200"/>
          </a:xfrm>
          <a:prstGeom prst="roundRect">
            <a:avLst>
              <a:gd name="adj" fmla="val 50000"/>
            </a:avLst>
          </a:prstGeom>
          <a:solidFill>
            <a:srgbClr val="141B4D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48006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metric cards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611880" y="4800600"/>
            <a:ext cx="2514600" cy="457200"/>
          </a:xfrm>
          <a:prstGeom prst="roundRect">
            <a:avLst>
              <a:gd name="adj" fmla="val 50000"/>
            </a:avLst>
          </a:prstGeom>
          <a:solidFill>
            <a:srgbClr val="141B4D"/>
          </a:solidFill>
          <a:ln/>
        </p:spPr>
      </p:sp>
      <p:sp>
        <p:nvSpPr>
          <p:cNvPr id="27" name="Text 25"/>
          <p:cNvSpPr/>
          <p:nvPr/>
        </p:nvSpPr>
        <p:spPr>
          <a:xfrm>
            <a:off x="3611880" y="48006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health status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309360" y="4800600"/>
            <a:ext cx="2514600" cy="457200"/>
          </a:xfrm>
          <a:prstGeom prst="roundRect">
            <a:avLst>
              <a:gd name="adj" fmla="val 50000"/>
            </a:avLst>
          </a:prstGeom>
          <a:solidFill>
            <a:srgbClr val="141B4D"/>
          </a:solidFill>
          <a:ln/>
        </p:spPr>
      </p:sp>
      <p:sp>
        <p:nvSpPr>
          <p:cNvPr id="29" name="Text 27"/>
          <p:cNvSpPr/>
          <p:nvPr/>
        </p:nvSpPr>
        <p:spPr>
          <a:xfrm>
            <a:off x="6309360" y="48006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 indicators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9006840" y="4800600"/>
            <a:ext cx="2514600" cy="457200"/>
          </a:xfrm>
          <a:prstGeom prst="roundRect">
            <a:avLst>
              <a:gd name="adj" fmla="val 50000"/>
            </a:avLst>
          </a:prstGeom>
          <a:solidFill>
            <a:srgbClr val="141B4D"/>
          </a:solidFill>
          <a:ln/>
        </p:spPr>
      </p:sp>
      <p:sp>
        <p:nvSpPr>
          <p:cNvPr id="31" name="Text 29"/>
          <p:cNvSpPr/>
          <p:nvPr/>
        </p:nvSpPr>
        <p:spPr>
          <a:xfrm>
            <a:off x="9006840" y="48006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Cross-role data binding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Alarm System  •  Milestone 4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Reports &amp; Visualization Modules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behavioral data into charts, gauges and exportable reports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8521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01368"/>
            <a:ext cx="128016" cy="548640"/>
          </a:xfrm>
          <a:prstGeom prst="roundRect">
            <a:avLst/>
          </a:prstGeom>
          <a:solidFill>
            <a:srgbClr val="F2B134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1728216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BarChart.tsx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203911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components/charts/ — comparative habit &amp; score visualizations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548640" y="2697480"/>
            <a:ext cx="58521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2898648"/>
            <a:ext cx="128016" cy="548640"/>
          </a:xfrm>
          <a:prstGeom prst="roundRect">
            <a:avLst/>
          </a:prstGeom>
          <a:solidFill>
            <a:srgbClr val="F2B134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2825496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ScoreGauge.tsx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313639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components/charts/ — at-a-glance cognitive score gauge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548640" y="3794760"/>
            <a:ext cx="58521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" y="3995928"/>
            <a:ext cx="128016" cy="548640"/>
          </a:xfrm>
          <a:prstGeom prst="roundRect">
            <a:avLst/>
          </a:prstGeom>
          <a:solidFill>
            <a:srgbClr val="F2B134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3922776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reports/index.tsx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423367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report generator with PDF &amp; Excel export triggers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548640" y="4892040"/>
            <a:ext cx="58521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7240" y="5093208"/>
            <a:ext cx="128016" cy="548640"/>
          </a:xfrm>
          <a:prstGeom prst="roundRect">
            <a:avLst/>
          </a:prstGeom>
          <a:solidFill>
            <a:srgbClr val="F2B134"/>
          </a:solidFill>
          <a:ln/>
        </p:spPr>
      </p:sp>
      <p:sp>
        <p:nvSpPr>
          <p:cNvPr id="18" name="Text 16"/>
          <p:cNvSpPr/>
          <p:nvPr/>
        </p:nvSpPr>
        <p:spPr>
          <a:xfrm>
            <a:off x="1051560" y="5020056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analytics.py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533095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routers/ — backend BI report API endpoints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6720840" y="1600200"/>
            <a:ext cx="489204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995160" y="17830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— Weekly Cognitive Score</a:t>
            </a:r>
            <a:endParaRPr lang="en-US" sz="125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6903720" y="2194560"/>
          <a:ext cx="452628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3" name="Text 20"/>
          <p:cNvSpPr/>
          <p:nvPr/>
        </p:nvSpPr>
        <p:spPr>
          <a:xfrm>
            <a:off x="6995160" y="4617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Adaptive Difficulty Fit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6995160" y="486460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92%</a:t>
            </a:r>
            <a:endParaRPr lang="en-US" sz="3400" dirty="0"/>
          </a:p>
        </p:txBody>
      </p:sp>
      <p:sp>
        <p:nvSpPr>
          <p:cNvPr id="25" name="Shape 22"/>
          <p:cNvSpPr/>
          <p:nvPr/>
        </p:nvSpPr>
        <p:spPr>
          <a:xfrm>
            <a:off x="9144000" y="5029200"/>
            <a:ext cx="2194560" cy="27432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26" name="Shape 23"/>
          <p:cNvSpPr/>
          <p:nvPr/>
        </p:nvSpPr>
        <p:spPr>
          <a:xfrm>
            <a:off x="9144000" y="5029200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/>
        </p:spPr>
      </p:sp>
      <p:sp>
        <p:nvSpPr>
          <p:cNvPr id="27" name="Text 2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Alarm System  •  Milestone 4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&amp; Validation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 / tests /  —  automated coverage for core services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F4F7FD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373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test_health.py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endpoints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35915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API and service liveness/readiness checks respond correctly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155448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F4F7FD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0" y="17373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test_ml_services.py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92240" y="20574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engine coverage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2240" y="235915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difficulty scaling, behavioral scoring &amp; recommendation logic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246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areas exercised by the suite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269748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39776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♥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31520" y="459028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Health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4901184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&amp; DB connectivity checks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3383280" y="3749040"/>
            <a:ext cx="269748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11880" y="39776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361188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566160" y="459028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Difficulty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566160" y="4901184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Puzzle scaling responds to user performance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6217920" y="3749040"/>
            <a:ext cx="269748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46520" y="39776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644652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400800" y="459028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Scoring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0" y="4901184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score calculation correctness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9052560" y="3749040"/>
            <a:ext cx="269748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281160" y="39776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928116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235440" y="459028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235440" y="4901184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returns valid, ranked suggestions</a:t>
            </a:r>
            <a:endParaRPr lang="en-US" sz="980" dirty="0"/>
          </a:p>
        </p:txBody>
      </p:sp>
      <p:sp>
        <p:nvSpPr>
          <p:cNvPr id="33" name="Text 3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Alarm System  •  Milestone 4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 &amp; Cloud Deployment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containerized, production-ready stack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822960" y="1737360"/>
            <a:ext cx="7589520" cy="3657600"/>
          </a:xfrm>
          <a:prstGeom prst="roundRect">
            <a:avLst>
              <a:gd name="adj" fmla="val 3000"/>
            </a:avLst>
          </a:prstGeom>
          <a:solidFill>
            <a:srgbClr val="141B4D"/>
          </a:solidFill>
          <a:ln w="12700">
            <a:solidFill>
              <a:srgbClr val="5B6B8C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1051560" y="1874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docker-compose.yml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1097280" y="2377440"/>
            <a:ext cx="2926080" cy="2286000"/>
          </a:xfrm>
          <a:prstGeom prst="roundRect">
            <a:avLst>
              <a:gd name="adj" fmla="val 4000"/>
            </a:avLst>
          </a:prstGeom>
          <a:solidFill>
            <a:srgbClr val="263680"/>
          </a:solidFill>
          <a:ln/>
        </p:spPr>
      </p:sp>
      <p:sp>
        <p:nvSpPr>
          <p:cNvPr id="7" name="Shape 5"/>
          <p:cNvSpPr/>
          <p:nvPr/>
        </p:nvSpPr>
        <p:spPr>
          <a:xfrm>
            <a:off x="2286000" y="260604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0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3246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Service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80160" y="35661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Dockerfile-built app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container, exposes REST API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40680" y="2377440"/>
            <a:ext cx="2788920" cy="2286000"/>
          </a:xfrm>
          <a:prstGeom prst="roundRect">
            <a:avLst>
              <a:gd name="adj" fmla="val 4000"/>
            </a:avLst>
          </a:prstGeom>
          <a:solidFill>
            <a:srgbClr val="263680"/>
          </a:solidFill>
          <a:ln/>
        </p:spPr>
      </p:sp>
      <p:sp>
        <p:nvSpPr>
          <p:cNvPr id="12" name="Shape 10"/>
          <p:cNvSpPr/>
          <p:nvPr/>
        </p:nvSpPr>
        <p:spPr>
          <a:xfrm>
            <a:off x="6537960" y="260604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6537960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☰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577840" y="32461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15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577840" y="356616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database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with health checks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023360" y="3520440"/>
            <a:ext cx="1417320" cy="0"/>
          </a:xfrm>
          <a:prstGeom prst="line">
            <a:avLst/>
          </a:prstGeom>
          <a:noFill/>
          <a:ln w="25400">
            <a:solidFill>
              <a:srgbClr val="F2B134"/>
            </a:solidFill>
            <a:prstDash val="solid"/>
            <a:headEnd type="triangl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1051560" y="5029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Health checks configured on both services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778240" y="1737360"/>
            <a:ext cx="2834640" cy="365760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9006840" y="1965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Cloud-Ready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9052560" y="2523744"/>
            <a:ext cx="109728" cy="109728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1" name="Text 19"/>
          <p:cNvSpPr/>
          <p:nvPr/>
        </p:nvSpPr>
        <p:spPr>
          <a:xfrm>
            <a:off x="9281160" y="241401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orchestration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052560" y="3090672"/>
            <a:ext cx="109728" cy="109728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3" name="Text 21"/>
          <p:cNvSpPr/>
          <p:nvPr/>
        </p:nvSpPr>
        <p:spPr>
          <a:xfrm>
            <a:off x="9281160" y="298094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app + DB layers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052560" y="3657600"/>
            <a:ext cx="109728" cy="109728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5" name="Text 23"/>
          <p:cNvSpPr/>
          <p:nvPr/>
        </p:nvSpPr>
        <p:spPr>
          <a:xfrm>
            <a:off x="9281160" y="354787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Environment-based config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052560" y="4224528"/>
            <a:ext cx="109728" cy="109728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7" name="Text 25"/>
          <p:cNvSpPr/>
          <p:nvPr/>
        </p:nvSpPr>
        <p:spPr>
          <a:xfrm>
            <a:off x="9281160" y="4114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One-command startup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Alarm System  •  Milestone 4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Documentation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README.md — the single source of truth for the project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66160" cy="1737360"/>
          </a:xfrm>
          <a:prstGeom prst="roundRect">
            <a:avLst>
              <a:gd name="adj" fmla="val 5263"/>
            </a:avLst>
          </a:prstGeom>
          <a:solidFill>
            <a:srgbClr val="F4F7FD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8288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" y="249631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4672" y="280720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Purpose, scope and high-level product summary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43400" y="1600200"/>
            <a:ext cx="3566160" cy="1737360"/>
          </a:xfrm>
          <a:prstGeom prst="roundRect">
            <a:avLst>
              <a:gd name="adj" fmla="val 5263"/>
            </a:avLst>
          </a:prstGeom>
          <a:solidFill>
            <a:srgbClr val="F4F7FD"/>
          </a:solidFill>
          <a:ln/>
        </p:spPr>
      </p:sp>
      <p:sp>
        <p:nvSpPr>
          <p:cNvPr id="10" name="Shape 8"/>
          <p:cNvSpPr/>
          <p:nvPr/>
        </p:nvSpPr>
        <p:spPr>
          <a:xfrm>
            <a:off x="4599432" y="18288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599432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◇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99432" y="249631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Diagram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99432" y="280720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map of frontend, backend and data layers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138160" y="1600200"/>
            <a:ext cx="3566160" cy="1737360"/>
          </a:xfrm>
          <a:prstGeom prst="roundRect">
            <a:avLst>
              <a:gd name="adj" fmla="val 5263"/>
            </a:avLst>
          </a:prstGeom>
          <a:solidFill>
            <a:srgbClr val="F4F7FD"/>
          </a:solidFill>
          <a:ln/>
        </p:spPr>
      </p:sp>
      <p:sp>
        <p:nvSpPr>
          <p:cNvPr id="15" name="Shape 13"/>
          <p:cNvSpPr/>
          <p:nvPr/>
        </p:nvSpPr>
        <p:spPr>
          <a:xfrm>
            <a:off x="8394192" y="18288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394192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⌘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394192" y="249631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94192" y="280720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Frameworks, libraries and services used end to end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520440"/>
            <a:ext cx="3566160" cy="1737360"/>
          </a:xfrm>
          <a:prstGeom prst="roundRect">
            <a:avLst>
              <a:gd name="adj" fmla="val 5263"/>
            </a:avLst>
          </a:prstGeom>
          <a:solidFill>
            <a:srgbClr val="F4F7FD"/>
          </a:solidFill>
          <a:ln/>
        </p:spPr>
      </p:sp>
      <p:sp>
        <p:nvSpPr>
          <p:cNvPr id="20" name="Shape 18"/>
          <p:cNvSpPr/>
          <p:nvPr/>
        </p:nvSpPr>
        <p:spPr>
          <a:xfrm>
            <a:off x="804672" y="37490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04672" y="441655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Documentation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04672" y="472744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reference for backend routers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343400" y="3520440"/>
            <a:ext cx="3566160" cy="1737360"/>
          </a:xfrm>
          <a:prstGeom prst="roundRect">
            <a:avLst>
              <a:gd name="adj" fmla="val 5263"/>
            </a:avLst>
          </a:prstGeom>
          <a:solidFill>
            <a:srgbClr val="F4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4599432" y="37490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4599432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◓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599432" y="441655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Details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99432" y="472744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adaptive difficulty &amp; recommendations work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138160" y="3520440"/>
            <a:ext cx="3566160" cy="1737360"/>
          </a:xfrm>
          <a:prstGeom prst="roundRect">
            <a:avLst>
              <a:gd name="adj" fmla="val 5263"/>
            </a:avLst>
          </a:prstGeom>
          <a:solidFill>
            <a:srgbClr val="F4F7FD"/>
          </a:solidFill>
          <a:ln/>
        </p:spPr>
      </p:sp>
      <p:sp>
        <p:nvSpPr>
          <p:cNvPr id="30" name="Shape 28"/>
          <p:cNvSpPr/>
          <p:nvPr/>
        </p:nvSpPr>
        <p:spPr>
          <a:xfrm>
            <a:off x="8394192" y="37490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8394192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394192" y="441655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Guide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394192" y="472744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install, environment and run instructions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8640" y="5532120"/>
            <a:ext cx="11064240" cy="502920"/>
          </a:xfrm>
          <a:prstGeom prst="roundRect">
            <a:avLst>
              <a:gd name="adj" fmla="val 50909"/>
            </a:avLst>
          </a:prstGeom>
          <a:solidFill>
            <a:srgbClr val="1E2761"/>
          </a:solidFill>
          <a:ln/>
        </p:spPr>
      </p:sp>
      <p:sp>
        <p:nvSpPr>
          <p:cNvPr id="35" name="Text 33"/>
          <p:cNvSpPr/>
          <p:nvPr/>
        </p:nvSpPr>
        <p:spPr>
          <a:xfrm>
            <a:off x="548640" y="55321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the complete Milestone 1–4 roadmap checklist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Alarm System  •  Milestone 4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Outcomes Achieved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Milestone 4 delivers for the product as a whole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402336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E2761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830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</a:t>
            </a:r>
            <a:endParaRPr lang="en-US" sz="15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Containerized Stack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822960" y="3520440"/>
            <a:ext cx="457200" cy="0"/>
          </a:xfrm>
          <a:prstGeom prst="line">
            <a:avLst/>
          </a:prstGeom>
          <a:noFill/>
          <a:ln w="31750">
            <a:solidFill>
              <a:srgbClr val="F2B13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703320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configuration ready for cloud deployment, with FastAPI, PostgreSQL and health checks wired together.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0" y="1600200"/>
            <a:ext cx="3611880" cy="402336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E2761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63440" y="17830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663440" y="260604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Cognitive</a:t>
            </a:r>
            <a:endParaRPr lang="en-US" sz="15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Intelligence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4663440" y="3520440"/>
            <a:ext cx="457200" cy="0"/>
          </a:xfrm>
          <a:prstGeom prst="line">
            <a:avLst/>
          </a:prstGeom>
          <a:noFill/>
          <a:ln w="31750">
            <a:solidFill>
              <a:srgbClr val="F2B1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3703320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engines for adaptive difficulty, behavioral analytics and recommendations are fully functional and test-covered.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0" y="1600200"/>
            <a:ext cx="3611880" cy="402336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E2761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503920" y="17830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8503920" y="260604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Wake-up</a:t>
            </a:r>
            <a:endParaRPr lang="en-US" sz="15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Workflow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8503920" y="3520440"/>
            <a:ext cx="457200" cy="0"/>
          </a:xfrm>
          <a:prstGeom prst="line">
            <a:avLst/>
          </a:prstGeom>
          <a:noFill/>
          <a:ln w="31750">
            <a:solidFill>
              <a:srgbClr val="F2B13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0" y="3703320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Demonstrable from alarm scheduling through cognitive challenge resolution to habit tracking and executive reporting.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Alarm System  •  Milestone 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Wake-up Improvement Workflow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Demonstrable across the full stack, alarm to insight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85800" y="2468880"/>
            <a:ext cx="2468880" cy="2468880"/>
          </a:xfrm>
          <a:prstGeom prst="roundRect">
            <a:avLst>
              <a:gd name="adj" fmla="val 3704"/>
            </a:avLst>
          </a:prstGeom>
          <a:solidFill>
            <a:srgbClr val="F4F7FD"/>
          </a:solidFill>
          <a:ln/>
          <a:effectLst>
            <a:outerShdw sx="100000" sy="100000" kx="0" ky="0" algn="bl" rotWithShape="0" blurRad="63500" dist="254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00200" y="2148840"/>
            <a:ext cx="640080" cy="640080"/>
          </a:xfrm>
          <a:prstGeom prst="ellipse">
            <a:avLst/>
          </a:prstGeom>
          <a:solidFill>
            <a:srgbClr val="F2B13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0020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9260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22960" y="370332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Scheduling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154680" y="3703320"/>
            <a:ext cx="320040" cy="0"/>
          </a:xfrm>
          <a:prstGeom prst="line">
            <a:avLst/>
          </a:prstGeom>
          <a:noFill/>
          <a:ln w="2540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474720" y="2468880"/>
            <a:ext cx="2468880" cy="2468880"/>
          </a:xfrm>
          <a:prstGeom prst="roundRect">
            <a:avLst>
              <a:gd name="adj" fmla="val 3704"/>
            </a:avLst>
          </a:prstGeom>
          <a:solidFill>
            <a:srgbClr val="F4F7FD"/>
          </a:solidFill>
          <a:ln/>
          <a:effectLst>
            <a:outerShdw sx="100000" sy="100000" kx="0" ky="0" algn="bl" rotWithShape="0" blurRad="63500" dist="25400" dir="5400000">
              <a:srgbClr val="1E2761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89120" y="2148840"/>
            <a:ext cx="640080" cy="640080"/>
          </a:xfrm>
          <a:prstGeom prst="ellipse">
            <a:avLst/>
          </a:prstGeom>
          <a:solidFill>
            <a:srgbClr val="F2B13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566160" y="29260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611880" y="370332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Challenge Resolution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943600" y="3703320"/>
            <a:ext cx="320040" cy="0"/>
          </a:xfrm>
          <a:prstGeom prst="line">
            <a:avLst/>
          </a:prstGeom>
          <a:noFill/>
          <a:ln w="2540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263640" y="2468880"/>
            <a:ext cx="2468880" cy="2468880"/>
          </a:xfrm>
          <a:prstGeom prst="roundRect">
            <a:avLst>
              <a:gd name="adj" fmla="val 3704"/>
            </a:avLst>
          </a:prstGeom>
          <a:solidFill>
            <a:srgbClr val="F4F7FD"/>
          </a:solidFill>
          <a:ln/>
          <a:effectLst>
            <a:outerShdw sx="100000" sy="100000" kx="0" ky="0" algn="bl" rotWithShape="0" blurRad="63500" dist="25400" dir="5400000">
              <a:srgbClr val="1E2761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178040" y="2148840"/>
            <a:ext cx="640080" cy="640080"/>
          </a:xfrm>
          <a:prstGeom prst="ellipse">
            <a:avLst/>
          </a:prstGeom>
          <a:solidFill>
            <a:srgbClr val="F2B13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7804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355080" y="29260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400800" y="370332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 &amp; Streak Tracking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8732520" y="3703320"/>
            <a:ext cx="320040" cy="0"/>
          </a:xfrm>
          <a:prstGeom prst="line">
            <a:avLst/>
          </a:prstGeom>
          <a:noFill/>
          <a:ln w="2540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052560" y="2468880"/>
            <a:ext cx="2468880" cy="2468880"/>
          </a:xfrm>
          <a:prstGeom prst="roundRect">
            <a:avLst>
              <a:gd name="adj" fmla="val 3704"/>
            </a:avLst>
          </a:prstGeom>
          <a:solidFill>
            <a:srgbClr val="1E2761"/>
          </a:solidFill>
          <a:ln/>
          <a:effectLst>
            <a:outerShdw sx="100000" sy="100000" kx="0" ky="0" algn="bl" rotWithShape="0" blurRad="63500" dist="25400" dir="5400000">
              <a:srgbClr val="1E2761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966960" y="2148840"/>
            <a:ext cx="640080" cy="640080"/>
          </a:xfrm>
          <a:prstGeom prst="ellipse">
            <a:avLst/>
          </a:prstGeom>
          <a:solidFill>
            <a:srgbClr val="F2B13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96696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144000" y="29260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9189720" y="370332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Reporting &amp; Analytics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85800" y="52578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is instrumented and observable — from the first alarm trigger to the KPI cards on the executive dashboard.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Alarm System  •  Milestone 4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114800"/>
            <a:ext cx="5029200" cy="50292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92024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22960" y="28803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4 complete — the Cognitive Alarm System is fully built, tested and deployed.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3832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concludes the final milestone of the internship program.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4206240"/>
            <a:ext cx="5029200" cy="0"/>
          </a:xfrm>
          <a:prstGeom prst="line">
            <a:avLst/>
          </a:prstGeom>
          <a:noFill/>
          <a:ln w="12700">
            <a:solidFill>
              <a:srgbClr val="5B6B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Repository: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github.com/GKSJ19/Cognitive-Alarm-System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Branch: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Venu_Aravind_D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Alarm System  •  Milestone 4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2026-08-19T15:29:28Z</dcterms:created>
  <dcterms:modified xsi:type="dcterms:W3CDTF">2026-08-19T15:29:28Z</dcterms:modified>
</cp:coreProperties>
</file>