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502920"/>
            <a:ext cx="3383280" cy="3383280"/>
          </a:xfrm>
          <a:prstGeom prst="ellipse">
            <a:avLst/>
          </a:prstGeom>
          <a:solidFill>
            <a:srgbClr val="F2A83B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46920" y="1417320"/>
            <a:ext cx="1737360" cy="1737360"/>
          </a:xfrm>
          <a:prstGeom prst="ellipse">
            <a:avLst/>
          </a:prstGeom>
          <a:solidFill>
            <a:srgbClr val="F2A8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9645" y="1730045"/>
            <a:ext cx="1111910" cy="11119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85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ICAP  ·  INTELLIGENT COGNITIVE ALARM PLATFORM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2331720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3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40080" y="331012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Intelligence &amp; Recommendations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39502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 &amp; 6   •   Frontend–Backend Integration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A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 Aravind D   |   Branch: Venu_Aravind_D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 &amp;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milestone builds the adaptive intelligence layer of ICAP — connecting new ML-driven backend services with the frontend experience through analytics, personalization, and habit intelligence.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EBF0F9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12848"/>
            <a:ext cx="502920" cy="502920"/>
          </a:xfrm>
          <a:prstGeom prst="ellipse">
            <a:avLst/>
          </a:prstGeom>
          <a:solidFill>
            <a:srgbClr val="1A2A4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9" y="2283257"/>
            <a:ext cx="362102" cy="3621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508760" y="24688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Foundations: ML Engine &amp; Analytics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30632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difficulty engine, behavioral analytics workflows, and habit scoring models built and wired into backend services.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45352" y="196596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EBF0F9"/>
          </a:solidFill>
          <a:ln/>
        </p:spPr>
      </p:sp>
      <p:sp>
        <p:nvSpPr>
          <p:cNvPr id="12" name="Shape 9"/>
          <p:cNvSpPr/>
          <p:nvPr/>
        </p:nvSpPr>
        <p:spPr>
          <a:xfrm>
            <a:off x="6519672" y="2212848"/>
            <a:ext cx="502920" cy="502920"/>
          </a:xfrm>
          <a:prstGeom prst="ellipse">
            <a:avLst/>
          </a:prstGeom>
          <a:solidFill>
            <a:srgbClr val="1A2A4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081" y="2283257"/>
            <a:ext cx="362102" cy="3621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05472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205472" y="24688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Dashboards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19672" y="30632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engine outputs, habit tracking dashboards, and integration (connection) of backend to frontend for the new intelligence layer.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3434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EBF0F9"/>
          </a:solidFill>
          <a:ln/>
        </p:spPr>
      </p:sp>
      <p:sp>
        <p:nvSpPr>
          <p:cNvPr id="18" name="Text 14"/>
          <p:cNvSpPr/>
          <p:nvPr/>
        </p:nvSpPr>
        <p:spPr>
          <a:xfrm>
            <a:off x="548640" y="44348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9" name="Text 15"/>
          <p:cNvSpPr/>
          <p:nvPr/>
        </p:nvSpPr>
        <p:spPr>
          <a:xfrm>
            <a:off x="548640" y="51937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Backend Modules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325112" y="43434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EBF0F9"/>
          </a:solidFill>
          <a:ln/>
        </p:spPr>
      </p:sp>
      <p:sp>
        <p:nvSpPr>
          <p:cNvPr id="21" name="Text 17"/>
          <p:cNvSpPr/>
          <p:nvPr/>
        </p:nvSpPr>
        <p:spPr>
          <a:xfrm>
            <a:off x="4325112" y="44348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22" name="Text 18"/>
          <p:cNvSpPr/>
          <p:nvPr/>
        </p:nvSpPr>
        <p:spPr>
          <a:xfrm>
            <a:off x="4325112" y="51937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Tasks Delivered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101584" y="4343400"/>
            <a:ext cx="3520440" cy="1417320"/>
          </a:xfrm>
          <a:prstGeom prst="roundRect">
            <a:avLst>
              <a:gd name="adj" fmla="val 5806"/>
            </a:avLst>
          </a:prstGeom>
          <a:solidFill>
            <a:srgbClr val="EBF0F9"/>
          </a:solidFill>
          <a:ln/>
        </p:spPr>
      </p:sp>
      <p:sp>
        <p:nvSpPr>
          <p:cNvPr id="24" name="Text 20"/>
          <p:cNvSpPr/>
          <p:nvPr/>
        </p:nvSpPr>
        <p:spPr>
          <a:xfrm>
            <a:off x="8101584" y="44348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25" name="Text 21"/>
          <p:cNvSpPr/>
          <p:nvPr/>
        </p:nvSpPr>
        <p:spPr>
          <a:xfrm>
            <a:off x="8101584" y="519379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Outcomes Achieved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Tasks Completed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75488" cy="475488"/>
          </a:xfrm>
          <a:prstGeom prst="ellipse">
            <a:avLst/>
          </a:prstGeom>
          <a:solidFill>
            <a:srgbClr val="1A2A4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208" y="1483888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8988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Adaptive Difficulty Engine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71907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Dynamically scales challenge complexity based on real-time user performance patterns.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194560"/>
            <a:ext cx="475488" cy="475488"/>
          </a:xfrm>
          <a:prstGeom prst="ellipse">
            <a:avLst/>
          </a:prstGeom>
          <a:solidFill>
            <a:srgbClr val="1A2A4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08" y="2261128"/>
            <a:ext cx="342351" cy="3423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16712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Behavioral Analytics Workflows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249631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that analyze user interaction and habit trends across the platform.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2971800"/>
            <a:ext cx="475488" cy="475488"/>
          </a:xfrm>
          <a:prstGeom prst="ellipse">
            <a:avLst/>
          </a:prstGeom>
          <a:solidFill>
            <a:srgbClr val="1A2A4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3038368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94436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Habit Scoring Models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327355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logic that quantifies habit consistency and streak strength.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3749040"/>
            <a:ext cx="475488" cy="475488"/>
          </a:xfrm>
          <a:prstGeom prst="ellipse">
            <a:avLst/>
          </a:prstGeom>
          <a:solidFill>
            <a:srgbClr val="1A2A49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08" y="3815608"/>
            <a:ext cx="342351" cy="34235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72160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Recommendation Engine Outputs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234440" y="40507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suggestions produced from behavioral and habit data.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4526280"/>
            <a:ext cx="475488" cy="475488"/>
          </a:xfrm>
          <a:prstGeom prst="ellipse">
            <a:avLst/>
          </a:prstGeom>
          <a:solidFill>
            <a:srgbClr val="1A2A49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208" y="4592848"/>
            <a:ext cx="342351" cy="34235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449884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Habit Tracking Dashboards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234440" y="482803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dashboards summarizing habit progress for end users.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48640" y="5303520"/>
            <a:ext cx="475488" cy="475488"/>
          </a:xfrm>
          <a:prstGeom prst="ellipse">
            <a:avLst/>
          </a:prstGeom>
          <a:solidFill>
            <a:srgbClr val="1A2A49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208" y="5370088"/>
            <a:ext cx="342351" cy="34235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34440" y="527608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(Connection) of Backend to Frontend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1234440" y="560527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the new ML, analytics, and recommendation endpoints to the frontend application.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Delivered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new backend modules power the adaptive intelligence layer end to end.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352044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EBF0F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07568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5603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Engine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F2A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adaptive_difficulty.py · behavioral_analytics.py · recommendation_engine.py</a:t>
            </a:r>
            <a:endParaRPr lang="en-US" sz="830" dirty="0"/>
          </a:p>
        </p:txBody>
      </p:sp>
      <p:sp>
        <p:nvSpPr>
          <p:cNvPr id="10" name="Text 7"/>
          <p:cNvSpPr/>
          <p:nvPr/>
        </p:nvSpPr>
        <p:spPr>
          <a:xfrm>
            <a:off x="777240" y="34107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ML module for adaptive difficulty, analytics, and recommendations.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4343400" y="1810512"/>
            <a:ext cx="352044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9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2011680"/>
            <a:ext cx="457200" cy="457200"/>
          </a:xfrm>
          <a:prstGeom prst="ellipse">
            <a:avLst/>
          </a:prstGeom>
          <a:solidFill>
            <a:srgbClr val="EBF0F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07568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25603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72000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F2A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 · schemas · routers · service · repository</a:t>
            </a:r>
            <a:endParaRPr lang="en-US" sz="830" dirty="0"/>
          </a:p>
        </p:txBody>
      </p:sp>
      <p:sp>
        <p:nvSpPr>
          <p:cNvPr id="16" name="Text 12"/>
          <p:cNvSpPr/>
          <p:nvPr/>
        </p:nvSpPr>
        <p:spPr>
          <a:xfrm>
            <a:off x="4572000" y="34107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analytics stack from data model to API endpoint.</a:t>
            </a:r>
            <a:endParaRPr lang="en-US" sz="1030" dirty="0"/>
          </a:p>
        </p:txBody>
      </p:sp>
      <p:sp>
        <p:nvSpPr>
          <p:cNvPr id="17" name="Shape 13"/>
          <p:cNvSpPr/>
          <p:nvPr/>
        </p:nvSpPr>
        <p:spPr>
          <a:xfrm>
            <a:off x="8138160" y="1810512"/>
            <a:ext cx="352044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9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66760" y="2011680"/>
            <a:ext cx="457200" cy="457200"/>
          </a:xfrm>
          <a:prstGeom prst="ellipse">
            <a:avLst/>
          </a:prstGeom>
          <a:solidFill>
            <a:srgbClr val="EBF0F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07568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66760" y="25603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366760" y="29260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F2A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 · schemas · routers · service · repository</a:t>
            </a:r>
            <a:endParaRPr lang="en-US" sz="830" dirty="0"/>
          </a:p>
        </p:txBody>
      </p:sp>
      <p:sp>
        <p:nvSpPr>
          <p:cNvPr id="22" name="Text 17"/>
          <p:cNvSpPr/>
          <p:nvPr/>
        </p:nvSpPr>
        <p:spPr>
          <a:xfrm>
            <a:off x="8366760" y="34107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end-to-end notification system.</a:t>
            </a:r>
            <a:endParaRPr lang="en-US" sz="1030" dirty="0"/>
          </a:p>
        </p:txBody>
      </p:sp>
      <p:sp>
        <p:nvSpPr>
          <p:cNvPr id="23" name="Shape 18"/>
          <p:cNvSpPr/>
          <p:nvPr/>
        </p:nvSpPr>
        <p:spPr>
          <a:xfrm>
            <a:off x="548640" y="4160520"/>
            <a:ext cx="352044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9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77240" y="4361688"/>
            <a:ext cx="457200" cy="457200"/>
          </a:xfrm>
          <a:prstGeom prst="ellipse">
            <a:avLst/>
          </a:prstGeom>
          <a:solidFill>
            <a:srgbClr val="EBF0F9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425696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77240" y="491032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Difficulty API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77240" y="52760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F2A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routers/adaptive_difficulty.py · service</a:t>
            </a:r>
            <a:endParaRPr lang="en-US" sz="830" dirty="0"/>
          </a:p>
        </p:txBody>
      </p:sp>
      <p:sp>
        <p:nvSpPr>
          <p:cNvPr id="28" name="Text 22"/>
          <p:cNvSpPr/>
          <p:nvPr/>
        </p:nvSpPr>
        <p:spPr>
          <a:xfrm>
            <a:off x="777240" y="5760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and service layer for real-time challenge difficulty.</a:t>
            </a:r>
            <a:endParaRPr lang="en-US" sz="1030" dirty="0"/>
          </a:p>
        </p:txBody>
      </p:sp>
      <p:sp>
        <p:nvSpPr>
          <p:cNvPr id="29" name="Shape 23"/>
          <p:cNvSpPr/>
          <p:nvPr/>
        </p:nvSpPr>
        <p:spPr>
          <a:xfrm>
            <a:off x="4343400" y="4160520"/>
            <a:ext cx="352044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9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572000" y="4361688"/>
            <a:ext cx="457200" cy="457200"/>
          </a:xfrm>
          <a:prstGeom prst="ellipse">
            <a:avLst/>
          </a:prstGeom>
          <a:solidFill>
            <a:srgbClr val="EBF0F9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4425696"/>
            <a:ext cx="329184" cy="32918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572000" y="491032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API</a:t>
            </a:r>
            <a:endParaRPr lang="en-US" sz="1450" dirty="0"/>
          </a:p>
        </p:txBody>
      </p:sp>
      <p:sp>
        <p:nvSpPr>
          <p:cNvPr id="33" name="Text 26"/>
          <p:cNvSpPr/>
          <p:nvPr/>
        </p:nvSpPr>
        <p:spPr>
          <a:xfrm>
            <a:off x="4572000" y="52760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F2A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routers/recommendations.py · service</a:t>
            </a:r>
            <a:endParaRPr lang="en-US" sz="830" dirty="0"/>
          </a:p>
        </p:txBody>
      </p:sp>
      <p:sp>
        <p:nvSpPr>
          <p:cNvPr id="34" name="Text 27"/>
          <p:cNvSpPr/>
          <p:nvPr/>
        </p:nvSpPr>
        <p:spPr>
          <a:xfrm>
            <a:off x="4572000" y="5760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and service for personalized suggestions.</a:t>
            </a:r>
            <a:endParaRPr lang="en-US" sz="1030" dirty="0"/>
          </a:p>
        </p:txBody>
      </p:sp>
      <p:sp>
        <p:nvSpPr>
          <p:cNvPr id="35" name="Shape 28"/>
          <p:cNvSpPr/>
          <p:nvPr/>
        </p:nvSpPr>
        <p:spPr>
          <a:xfrm>
            <a:off x="8138160" y="4160520"/>
            <a:ext cx="352044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76200" dist="25400" dir="5400000">
              <a:srgbClr val="1A2A49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366760" y="4361688"/>
            <a:ext cx="457200" cy="457200"/>
          </a:xfrm>
          <a:prstGeom prst="ellipse">
            <a:avLst/>
          </a:prstGeom>
          <a:solidFill>
            <a:srgbClr val="EBF0F9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4425696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366760" y="491032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Analytics API</a:t>
            </a:r>
            <a:endParaRPr lang="en-US" sz="1450" dirty="0"/>
          </a:p>
        </p:txBody>
      </p:sp>
      <p:sp>
        <p:nvSpPr>
          <p:cNvPr id="39" name="Text 31"/>
          <p:cNvSpPr/>
          <p:nvPr/>
        </p:nvSpPr>
        <p:spPr>
          <a:xfrm>
            <a:off x="8366760" y="52760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F2A8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routers/behavioral_analytics.py · service</a:t>
            </a:r>
            <a:endParaRPr lang="en-US" sz="830" dirty="0"/>
          </a:p>
        </p:txBody>
      </p:sp>
      <p:sp>
        <p:nvSpPr>
          <p:cNvPr id="40" name="Text 32"/>
          <p:cNvSpPr/>
          <p:nvPr/>
        </p:nvSpPr>
        <p:spPr>
          <a:xfrm>
            <a:off x="8366760" y="576072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and service layer for behavior analysis.</a:t>
            </a:r>
            <a:endParaRPr lang="en-US" sz="1030" dirty="0"/>
          </a:p>
        </p:txBody>
      </p:sp>
      <p:sp>
        <p:nvSpPr>
          <p:cNvPr id="41" name="Text 33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NOTES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Updates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475488" cy="475488"/>
          </a:xfrm>
          <a:prstGeom prst="ellipse">
            <a:avLst/>
          </a:prstGeom>
          <a:solidFill>
            <a:srgbClr val="1A2A4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208" y="1547896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45389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Model Updates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34440" y="177393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user, alarm, challenge, and admin models; added new enums to support intelligence features.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276856"/>
            <a:ext cx="475488" cy="475488"/>
          </a:xfrm>
          <a:prstGeom prst="ellipse">
            <a:avLst/>
          </a:prstGeom>
          <a:solidFill>
            <a:srgbClr val="1A2A4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08" y="2343424"/>
            <a:ext cx="342351" cy="3423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24942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Updates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34440" y="256946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alarm, auth, challenge, habit, and user schemas for the new capabilities.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072384"/>
            <a:ext cx="475488" cy="475488"/>
          </a:xfrm>
          <a:prstGeom prst="ellipse">
            <a:avLst/>
          </a:prstGeom>
          <a:solidFill>
            <a:srgbClr val="1A2A4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08" y="3138952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04495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Cleanup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34440" y="33649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Refined .gitignore, removed unused cache/config files, and reorganized the database module.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06908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141F38"/>
          </a:solidFill>
          <a:ln/>
        </p:spPr>
      </p:sp>
      <p:sp>
        <p:nvSpPr>
          <p:cNvPr id="17" name="Shape 12"/>
          <p:cNvSpPr/>
          <p:nvPr/>
        </p:nvSpPr>
        <p:spPr>
          <a:xfrm>
            <a:off x="822960" y="4343400"/>
            <a:ext cx="146304" cy="146304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8" name="Shape 13"/>
          <p:cNvSpPr/>
          <p:nvPr/>
        </p:nvSpPr>
        <p:spPr>
          <a:xfrm>
            <a:off x="1033272" y="4343400"/>
            <a:ext cx="146304" cy="146304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9" name="Shape 14"/>
          <p:cNvSpPr/>
          <p:nvPr/>
        </p:nvSpPr>
        <p:spPr>
          <a:xfrm>
            <a:off x="1243584" y="4343400"/>
            <a:ext cx="146304" cy="146304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4599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A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22960" y="491032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"Add ML services, analytics, notifications, adaptive difficulty, and recommendations modules"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OUTCOMES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Achieved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2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Cognitive Alarm Platform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24365C"/>
          </a:solidFill>
          <a:ln/>
        </p:spPr>
      </p:sp>
      <p:sp>
        <p:nvSpPr>
          <p:cNvPr id="6" name="Shape 4"/>
          <p:cNvSpPr/>
          <p:nvPr/>
        </p:nvSpPr>
        <p:spPr>
          <a:xfrm>
            <a:off x="1988820" y="2651760"/>
            <a:ext cx="640080" cy="640080"/>
          </a:xfrm>
          <a:prstGeom prst="ellipse">
            <a:avLst/>
          </a:prstGeom>
          <a:solidFill>
            <a:srgbClr val="F2A8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8431" y="274137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204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Difficulty Engine Operational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difficulty scaling now live across challenge modules.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233172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24365C"/>
          </a:solidFill>
          <a:ln/>
        </p:spPr>
      </p:sp>
      <p:sp>
        <p:nvSpPr>
          <p:cNvPr id="11" name="Shape 8"/>
          <p:cNvSpPr/>
          <p:nvPr/>
        </p:nvSpPr>
        <p:spPr>
          <a:xfrm>
            <a:off x="5783580" y="2651760"/>
            <a:ext cx="640080" cy="640080"/>
          </a:xfrm>
          <a:prstGeom prst="ellipse">
            <a:avLst/>
          </a:prstGeom>
          <a:solidFill>
            <a:srgbClr val="F2A8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191" y="274137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5204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 Scoring System Functional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17720" y="44805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 consistency scoring active and integrated with analytics.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38160" y="233172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24365C"/>
          </a:solidFill>
          <a:ln/>
        </p:spPr>
      </p:sp>
      <p:sp>
        <p:nvSpPr>
          <p:cNvPr id="16" name="Shape 12"/>
          <p:cNvSpPr/>
          <p:nvPr/>
        </p:nvSpPr>
        <p:spPr>
          <a:xfrm>
            <a:off x="9578340" y="2651760"/>
            <a:ext cx="640080" cy="640080"/>
          </a:xfrm>
          <a:prstGeom prst="ellipse">
            <a:avLst/>
          </a:prstGeom>
          <a:solidFill>
            <a:srgbClr val="F2A8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7951" y="274137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2480" y="35204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Workflows Completed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12480" y="44805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recommendation pipeline fully operational.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8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20624" cy="420624"/>
          </a:xfrm>
          <a:prstGeom prst="ellipse">
            <a:avLst/>
          </a:prstGeom>
          <a:solidFill>
            <a:srgbClr val="F2A8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146" y="1763146"/>
            <a:ext cx="277612" cy="2776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733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frontend integration of ML and recommendation endpoints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350008"/>
            <a:ext cx="420624" cy="420624"/>
          </a:xfrm>
          <a:prstGeom prst="ellipse">
            <a:avLst/>
          </a:prstGeom>
          <a:solidFill>
            <a:srgbClr val="F2A83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46" y="2421514"/>
            <a:ext cx="277612" cy="2776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3317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testing of adaptive difficulty and analytics workflows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3008376"/>
            <a:ext cx="420624" cy="420624"/>
          </a:xfrm>
          <a:prstGeom prst="ellipse">
            <a:avLst/>
          </a:prstGeom>
          <a:solidFill>
            <a:srgbClr val="F2A83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46" y="3079882"/>
            <a:ext cx="277612" cy="2776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99008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Polish the habit tracking dashboard UI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48640" y="3666744"/>
            <a:ext cx="420624" cy="420624"/>
          </a:xfrm>
          <a:prstGeom prst="ellipse">
            <a:avLst/>
          </a:prstGeom>
          <a:solidFill>
            <a:srgbClr val="F2A83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146" y="3738250"/>
            <a:ext cx="277612" cy="2776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64845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the Milestone 3 demo and walkthrough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548640" y="4709160"/>
            <a:ext cx="1106424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A8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18" name="Text 12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9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ICAP Team  ·  Venu Aravind D  ·  Milestone 3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2026-08-08T15:58:10Z</dcterms:created>
  <dcterms:modified xsi:type="dcterms:W3CDTF">2026-08-08T15:58:10Z</dcterms:modified>
</cp:coreProperties>
</file>