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2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ucid_ppt/assets/bg_dark_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/home/claude/lucid_ppt/assets/pill_tall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75720" y="-274320"/>
            <a:ext cx="777240" cy="2377440"/>
          </a:xfrm>
          <a:prstGeom prst="rect">
            <a:avLst/>
          </a:prstGeom>
        </p:spPr>
      </p:pic>
      <p:pic>
        <p:nvPicPr>
          <p:cNvPr id="4" name="Image 2" descr="/home/claude/lucid_ppt/assets/pill_tall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41480" y="-457200"/>
            <a:ext cx="640080" cy="192024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548640" y="502920"/>
            <a:ext cx="1371600" cy="457200"/>
          </a:xfrm>
          <a:prstGeom prst="roundRect">
            <a:avLst>
              <a:gd name="adj" fmla="val 50000"/>
            </a:avLst>
          </a:prstGeom>
          <a:solidFill>
            <a:srgbClr val="1E2260"/>
          </a:solidFill>
          <a:ln w="12700">
            <a:solidFill>
              <a:srgbClr val="4A7DFF"/>
            </a:solidFill>
            <a:prstDash val="solid"/>
          </a:ln>
        </p:spPr>
      </p:sp>
      <p:sp>
        <p:nvSpPr>
          <p:cNvPr id="6" name="Text 1"/>
          <p:cNvSpPr/>
          <p:nvPr/>
        </p:nvSpPr>
        <p:spPr>
          <a:xfrm>
            <a:off x="548640" y="5029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 2</a:t>
            </a:r>
            <a:endParaRPr lang="en-US" sz="1300" dirty="0"/>
          </a:p>
        </p:txBody>
      </p:sp>
      <p:pic>
        <p:nvPicPr>
          <p:cNvPr id="7" name="Image 3" descr="/home/claude/lucid_ppt/assets/logo_c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417320"/>
            <a:ext cx="4206240" cy="3191256"/>
          </a:xfrm>
          <a:prstGeom prst="rect">
            <a:avLst/>
          </a:prstGeom>
        </p:spPr>
      </p:pic>
      <p:sp>
        <p:nvSpPr>
          <p:cNvPr id="8" name="Text 2"/>
          <p:cNvSpPr/>
          <p:nvPr/>
        </p:nvSpPr>
        <p:spPr>
          <a:xfrm>
            <a:off x="5029200" y="246888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Intelligent Cognitive</a:t>
            </a:r>
            <a:endParaRPr lang="en-US" sz="3200" dirty="0"/>
          </a:p>
        </p:txBody>
      </p:sp>
      <p:sp>
        <p:nvSpPr>
          <p:cNvPr id="9" name="Text 3"/>
          <p:cNvSpPr/>
          <p:nvPr/>
        </p:nvSpPr>
        <p:spPr>
          <a:xfrm>
            <a:off x="5029200" y="3108960"/>
            <a:ext cx="6583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Alarm Platform</a:t>
            </a:r>
            <a:endParaRPr lang="en-US" sz="3200" dirty="0"/>
          </a:p>
        </p:txBody>
      </p:sp>
      <p:sp>
        <p:nvSpPr>
          <p:cNvPr id="10" name="Text 4"/>
          <p:cNvSpPr/>
          <p:nvPr/>
        </p:nvSpPr>
        <p:spPr>
          <a:xfrm>
            <a:off x="5029200" y="3840480"/>
            <a:ext cx="6583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AA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Powered by the Cognitive Challenge Engine — an AI system that</a:t>
            </a:r>
            <a:endParaRPr lang="en-US" sz="14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9AA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fresh brain puzzles on demand.</a:t>
            </a:r>
            <a:endParaRPr lang="en-US" sz="1450" dirty="0"/>
          </a:p>
        </p:txBody>
      </p:sp>
      <p:sp>
        <p:nvSpPr>
          <p:cNvPr id="11" name="Shape 5"/>
          <p:cNvSpPr/>
          <p:nvPr/>
        </p:nvSpPr>
        <p:spPr>
          <a:xfrm>
            <a:off x="5029200" y="4709160"/>
            <a:ext cx="2468880" cy="530352"/>
          </a:xfrm>
          <a:prstGeom prst="roundRect">
            <a:avLst>
              <a:gd name="adj" fmla="val 50000"/>
            </a:avLst>
          </a:prstGeom>
          <a:solidFill>
            <a:srgbClr val="262B6E"/>
          </a:solidFill>
          <a:ln w="12700">
            <a:solidFill>
              <a:srgbClr val="4A7DFF"/>
            </a:solidFill>
            <a:prstDash val="solid"/>
          </a:ln>
        </p:spPr>
      </p:sp>
      <p:sp>
        <p:nvSpPr>
          <p:cNvPr id="12" name="Text 6"/>
          <p:cNvSpPr/>
          <p:nvPr/>
        </p:nvSpPr>
        <p:spPr>
          <a:xfrm>
            <a:off x="5029200" y="4709160"/>
            <a:ext cx="24688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 ALERT</a:t>
            </a:r>
            <a:endParaRPr lang="en-US" sz="1400" dirty="0"/>
          </a:p>
        </p:txBody>
      </p:sp>
      <p:sp>
        <p:nvSpPr>
          <p:cNvPr id="13" name="Shape 7"/>
          <p:cNvSpPr/>
          <p:nvPr/>
        </p:nvSpPr>
        <p:spPr>
          <a:xfrm>
            <a:off x="8869680" y="5669280"/>
            <a:ext cx="2788920" cy="685800"/>
          </a:xfrm>
          <a:prstGeom prst="roundRect">
            <a:avLst>
              <a:gd name="adj" fmla="val 50000"/>
            </a:avLst>
          </a:prstGeom>
          <a:solidFill>
            <a:srgbClr val="1E2260"/>
          </a:solidFill>
          <a:ln w="12700">
            <a:solidFill>
              <a:srgbClr val="4A7DFF"/>
            </a:solidFill>
            <a:prstDash val="solid"/>
          </a:ln>
        </p:spPr>
      </p:sp>
      <p:sp>
        <p:nvSpPr>
          <p:cNvPr id="14" name="Text 8"/>
          <p:cNvSpPr/>
          <p:nvPr/>
        </p:nvSpPr>
        <p:spPr>
          <a:xfrm>
            <a:off x="9052560" y="5669280"/>
            <a:ext cx="2286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NASRITHA</a:t>
            </a:r>
            <a:endParaRPr lang="en-US" sz="1600" dirty="0"/>
          </a:p>
        </p:txBody>
      </p:sp>
      <p:sp>
        <p:nvSpPr>
          <p:cNvPr id="15" name="Text 9"/>
          <p:cNvSpPr/>
          <p:nvPr/>
        </p:nvSpPr>
        <p:spPr>
          <a:xfrm>
            <a:off x="11109960" y="5669280"/>
            <a:ext cx="457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dirty="0">
                <a:solidFill>
                  <a:srgbClr val="7A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ucid_ppt/assets/bg_dark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A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This Project?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D6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Cognitive Challenge Engine generates brain puzzles for the user to solve. It started as a mind map with one central idea, connected to 7 challenge categories: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33172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1E2260"/>
          </a:solidFill>
          <a:ln w="9525">
            <a:solidFill>
              <a:srgbClr val="353B8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685800" y="2478024"/>
            <a:ext cx="530352" cy="530352"/>
          </a:xfrm>
          <a:prstGeom prst="ellipse">
            <a:avLst/>
          </a:prstGeom>
          <a:solidFill>
            <a:srgbClr val="4A7DFF"/>
          </a:solidFill>
          <a:ln/>
        </p:spPr>
      </p:sp>
      <p:sp>
        <p:nvSpPr>
          <p:cNvPr id="8" name="Text 5"/>
          <p:cNvSpPr/>
          <p:nvPr/>
        </p:nvSpPr>
        <p:spPr>
          <a:xfrm>
            <a:off x="685800" y="24780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685800" y="309067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Problems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85800" y="344728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Arithmetic, percentages, algebra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3319272" y="233172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1E2260"/>
          </a:solidFill>
          <a:ln w="9525">
            <a:solidFill>
              <a:srgbClr val="353B8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3456432" y="2478024"/>
            <a:ext cx="530352" cy="530352"/>
          </a:xfrm>
          <a:prstGeom prst="ellipse">
            <a:avLst/>
          </a:prstGeom>
          <a:solidFill>
            <a:srgbClr val="4A7DFF"/>
          </a:solidFill>
          <a:ln/>
        </p:spPr>
      </p:sp>
      <p:sp>
        <p:nvSpPr>
          <p:cNvPr id="13" name="Text 10"/>
          <p:cNvSpPr/>
          <p:nvPr/>
        </p:nvSpPr>
        <p:spPr>
          <a:xfrm>
            <a:off x="3456432" y="24780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</a:t>
            </a:r>
            <a:endParaRPr lang="en-US" sz="750" dirty="0"/>
          </a:p>
        </p:txBody>
      </p:sp>
      <p:sp>
        <p:nvSpPr>
          <p:cNvPr id="14" name="Text 11"/>
          <p:cNvSpPr/>
          <p:nvPr/>
        </p:nvSpPr>
        <p:spPr>
          <a:xfrm>
            <a:off x="3456432" y="309067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Logic Puzzles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3456432" y="344728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 patterns, reasoning, missing elements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6089904" y="233172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1E2260"/>
          </a:solidFill>
          <a:ln w="9525">
            <a:solidFill>
              <a:srgbClr val="353B8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227064" y="2478024"/>
            <a:ext cx="530352" cy="530352"/>
          </a:xfrm>
          <a:prstGeom prst="ellipse">
            <a:avLst/>
          </a:prstGeom>
          <a:solidFill>
            <a:srgbClr val="4A7DFF"/>
          </a:solidFill>
          <a:ln/>
        </p:spPr>
      </p:sp>
      <p:sp>
        <p:nvSpPr>
          <p:cNvPr id="18" name="Text 15"/>
          <p:cNvSpPr/>
          <p:nvPr/>
        </p:nvSpPr>
        <p:spPr>
          <a:xfrm>
            <a:off x="6227064" y="24780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</a:t>
            </a:r>
            <a:endParaRPr lang="en-US" sz="750" dirty="0"/>
          </a:p>
        </p:txBody>
      </p:sp>
      <p:sp>
        <p:nvSpPr>
          <p:cNvPr id="19" name="Text 16"/>
          <p:cNvSpPr/>
          <p:nvPr/>
        </p:nvSpPr>
        <p:spPr>
          <a:xfrm>
            <a:off x="6227064" y="309067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Challenges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6227064" y="344728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Memorize &amp; recall words, sequences, positions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8860536" y="2331720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1E2260"/>
          </a:solidFill>
          <a:ln w="9525">
            <a:solidFill>
              <a:srgbClr val="353B8F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997696" y="2478024"/>
            <a:ext cx="530352" cy="530352"/>
          </a:xfrm>
          <a:prstGeom prst="ellipse">
            <a:avLst/>
          </a:prstGeom>
          <a:solidFill>
            <a:srgbClr val="4A7DFF"/>
          </a:solidFill>
          <a:ln/>
        </p:spPr>
      </p:sp>
      <p:sp>
        <p:nvSpPr>
          <p:cNvPr id="23" name="Text 20"/>
          <p:cNvSpPr/>
          <p:nvPr/>
        </p:nvSpPr>
        <p:spPr>
          <a:xfrm>
            <a:off x="8997696" y="24780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</a:t>
            </a:r>
            <a:endParaRPr lang="en-US" sz="750" dirty="0"/>
          </a:p>
        </p:txBody>
      </p:sp>
      <p:sp>
        <p:nvSpPr>
          <p:cNvPr id="24" name="Text 21"/>
          <p:cNvSpPr/>
          <p:nvPr/>
        </p:nvSpPr>
        <p:spPr>
          <a:xfrm>
            <a:off x="8997696" y="3090672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Word Games</a:t>
            </a:r>
            <a:endParaRPr lang="en-US" sz="1300" dirty="0"/>
          </a:p>
        </p:txBody>
      </p:sp>
      <p:sp>
        <p:nvSpPr>
          <p:cNvPr id="25" name="Text 22"/>
          <p:cNvSpPr/>
          <p:nvPr/>
        </p:nvSpPr>
        <p:spPr>
          <a:xfrm>
            <a:off x="8997696" y="3447288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Unscramble, synonyms, antonyms, vocabulary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548640" y="4087368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1E2260"/>
          </a:solidFill>
          <a:ln w="9525">
            <a:solidFill>
              <a:srgbClr val="353B8F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85800" y="4233672"/>
            <a:ext cx="530352" cy="530352"/>
          </a:xfrm>
          <a:prstGeom prst="ellipse">
            <a:avLst/>
          </a:prstGeom>
          <a:solidFill>
            <a:srgbClr val="4A7DFF"/>
          </a:solidFill>
          <a:ln/>
        </p:spPr>
      </p:sp>
      <p:sp>
        <p:nvSpPr>
          <p:cNvPr id="28" name="Text 25"/>
          <p:cNvSpPr/>
          <p:nvPr/>
        </p:nvSpPr>
        <p:spPr>
          <a:xfrm>
            <a:off x="685800" y="42336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</a:t>
            </a:r>
            <a:endParaRPr lang="en-US" sz="750" dirty="0"/>
          </a:p>
        </p:txBody>
      </p:sp>
      <p:sp>
        <p:nvSpPr>
          <p:cNvPr id="29" name="Text 26"/>
          <p:cNvSpPr/>
          <p:nvPr/>
        </p:nvSpPr>
        <p:spPr>
          <a:xfrm>
            <a:off x="685800" y="48463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Pattern Recognition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685800" y="520293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Shape, color, and number patterns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3319272" y="4087368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1E2260"/>
          </a:solidFill>
          <a:ln w="9525">
            <a:solidFill>
              <a:srgbClr val="353B8F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3456432" y="4233672"/>
            <a:ext cx="530352" cy="530352"/>
          </a:xfrm>
          <a:prstGeom prst="ellipse">
            <a:avLst/>
          </a:prstGeom>
          <a:solidFill>
            <a:srgbClr val="4A7DFF"/>
          </a:solidFill>
          <a:ln/>
        </p:spPr>
      </p:sp>
      <p:sp>
        <p:nvSpPr>
          <p:cNvPr id="33" name="Text 30"/>
          <p:cNvSpPr/>
          <p:nvPr/>
        </p:nvSpPr>
        <p:spPr>
          <a:xfrm>
            <a:off x="3456432" y="42336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RIDL</a:t>
            </a:r>
            <a:endParaRPr lang="en-US" sz="750" dirty="0"/>
          </a:p>
        </p:txBody>
      </p:sp>
      <p:sp>
        <p:nvSpPr>
          <p:cNvPr id="34" name="Text 31"/>
          <p:cNvSpPr/>
          <p:nvPr/>
        </p:nvSpPr>
        <p:spPr>
          <a:xfrm>
            <a:off x="3456432" y="48463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Riddles</a:t>
            </a:r>
            <a:endParaRPr lang="en-US" sz="1300" dirty="0"/>
          </a:p>
        </p:txBody>
      </p:sp>
      <p:sp>
        <p:nvSpPr>
          <p:cNvPr id="35" name="Text 32"/>
          <p:cNvSpPr/>
          <p:nvPr/>
        </p:nvSpPr>
        <p:spPr>
          <a:xfrm>
            <a:off x="3456432" y="520293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reasoning riddles</a:t>
            </a:r>
            <a:endParaRPr lang="en-US" sz="950" dirty="0"/>
          </a:p>
        </p:txBody>
      </p:sp>
      <p:sp>
        <p:nvSpPr>
          <p:cNvPr id="36" name="Shape 33"/>
          <p:cNvSpPr/>
          <p:nvPr/>
        </p:nvSpPr>
        <p:spPr>
          <a:xfrm>
            <a:off x="6089904" y="4087368"/>
            <a:ext cx="2606040" cy="1554480"/>
          </a:xfrm>
          <a:prstGeom prst="roundRect">
            <a:avLst>
              <a:gd name="adj" fmla="val 7059"/>
            </a:avLst>
          </a:prstGeom>
          <a:solidFill>
            <a:srgbClr val="1E2260"/>
          </a:solidFill>
          <a:ln w="9525">
            <a:solidFill>
              <a:srgbClr val="353B8F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6227064" y="4233672"/>
            <a:ext cx="530352" cy="530352"/>
          </a:xfrm>
          <a:prstGeom prst="ellipse">
            <a:avLst/>
          </a:prstGeom>
          <a:solidFill>
            <a:srgbClr val="4A7DFF"/>
          </a:solidFill>
          <a:ln/>
        </p:spPr>
      </p:sp>
      <p:sp>
        <p:nvSpPr>
          <p:cNvPr id="38" name="Text 35"/>
          <p:cNvSpPr/>
          <p:nvPr/>
        </p:nvSpPr>
        <p:spPr>
          <a:xfrm>
            <a:off x="6227064" y="423367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QUIZ</a:t>
            </a:r>
            <a:endParaRPr lang="en-US" sz="750" dirty="0"/>
          </a:p>
        </p:txBody>
      </p:sp>
      <p:sp>
        <p:nvSpPr>
          <p:cNvPr id="39" name="Text 36"/>
          <p:cNvSpPr/>
          <p:nvPr/>
        </p:nvSpPr>
        <p:spPr>
          <a:xfrm>
            <a:off x="6227064" y="48463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Quick Quizzes</a:t>
            </a:r>
            <a:endParaRPr lang="en-US" sz="1300" dirty="0"/>
          </a:p>
        </p:txBody>
      </p:sp>
      <p:sp>
        <p:nvSpPr>
          <p:cNvPr id="40" name="Text 37"/>
          <p:cNvSpPr/>
          <p:nvPr/>
        </p:nvSpPr>
        <p:spPr>
          <a:xfrm>
            <a:off x="6227064" y="5202936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AA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knowledge and science</a:t>
            </a:r>
            <a:endParaRPr lang="en-US" sz="950" dirty="0"/>
          </a:p>
        </p:txBody>
      </p:sp>
      <p:sp>
        <p:nvSpPr>
          <p:cNvPr id="41" name="Text 3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 · Cognitive Challenge Engine</a:t>
            </a:r>
            <a:endParaRPr lang="en-US" sz="1000" dirty="0"/>
          </a:p>
        </p:txBody>
      </p:sp>
      <p:sp>
        <p:nvSpPr>
          <p:cNvPr id="42" name="Text 39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ucid_ppt/assets/bg_dark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A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SO FAR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Has Been Built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548640" y="1417320"/>
            <a:ext cx="11064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D6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complete working demo has been built with three main parts, all working together right now — using AI to generate endless fresh questions instead of a fixed, repeating list.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548640" y="2286000"/>
            <a:ext cx="3520440" cy="3337560"/>
          </a:xfrm>
          <a:prstGeom prst="roundRect">
            <a:avLst>
              <a:gd name="adj" fmla="val 3836"/>
            </a:avLst>
          </a:prstGeom>
          <a:solidFill>
            <a:srgbClr val="1E2260"/>
          </a:solidFill>
          <a:ln w="9525">
            <a:solidFill>
              <a:srgbClr val="353B8F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822960" y="2560320"/>
            <a:ext cx="685800" cy="685800"/>
          </a:xfrm>
          <a:prstGeom prst="ellipse">
            <a:avLst/>
          </a:prstGeom>
          <a:solidFill>
            <a:srgbClr val="4A7DFF"/>
          </a:solidFill>
          <a:ln/>
        </p:spPr>
      </p:sp>
      <p:sp>
        <p:nvSpPr>
          <p:cNvPr id="8" name="Text 5"/>
          <p:cNvSpPr/>
          <p:nvPr/>
        </p:nvSpPr>
        <p:spPr>
          <a:xfrm>
            <a:off x="822960" y="2560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822960" y="34290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Brain (AI Part)</a:t>
            </a:r>
            <a:endParaRPr lang="en-US" sz="1650" dirty="0"/>
          </a:p>
        </p:txBody>
      </p:sp>
      <p:sp>
        <p:nvSpPr>
          <p:cNvPr id="10" name="Text 7"/>
          <p:cNvSpPr/>
          <p:nvPr/>
        </p:nvSpPr>
        <p:spPr>
          <a:xfrm>
            <a:off x="822960" y="406908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6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Talks to Google's Gemini AI and asks it to invent a new question for a chosen category and difficulty level.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25112" y="2286000"/>
            <a:ext cx="3520440" cy="3337560"/>
          </a:xfrm>
          <a:prstGeom prst="roundRect">
            <a:avLst>
              <a:gd name="adj" fmla="val 3836"/>
            </a:avLst>
          </a:prstGeom>
          <a:solidFill>
            <a:srgbClr val="1E2260"/>
          </a:solidFill>
          <a:ln w="9525">
            <a:solidFill>
              <a:srgbClr val="353B8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4599432" y="2560320"/>
            <a:ext cx="685800" cy="685800"/>
          </a:xfrm>
          <a:prstGeom prst="ellipse">
            <a:avLst/>
          </a:prstGeom>
          <a:solidFill>
            <a:srgbClr val="4A7DFF"/>
          </a:solidFill>
          <a:ln/>
        </p:spPr>
      </p:sp>
      <p:sp>
        <p:nvSpPr>
          <p:cNvPr id="13" name="Text 10"/>
          <p:cNvSpPr/>
          <p:nvPr/>
        </p:nvSpPr>
        <p:spPr>
          <a:xfrm>
            <a:off x="4599432" y="2560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900" dirty="0"/>
          </a:p>
        </p:txBody>
      </p:sp>
      <p:sp>
        <p:nvSpPr>
          <p:cNvPr id="14" name="Text 11"/>
          <p:cNvSpPr/>
          <p:nvPr/>
        </p:nvSpPr>
        <p:spPr>
          <a:xfrm>
            <a:off x="4599432" y="34290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Backend (Server)</a:t>
            </a:r>
            <a:endParaRPr lang="en-US" sz="1650" dirty="0"/>
          </a:p>
        </p:txBody>
      </p:sp>
      <p:sp>
        <p:nvSpPr>
          <p:cNvPr id="15" name="Text 12"/>
          <p:cNvSpPr/>
          <p:nvPr/>
        </p:nvSpPr>
        <p:spPr>
          <a:xfrm>
            <a:off x="4599432" y="406908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6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Receives requests, talks to the AI, sends the question back, and checks if the user's answer is correct.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101584" y="2286000"/>
            <a:ext cx="3520440" cy="3337560"/>
          </a:xfrm>
          <a:prstGeom prst="roundRect">
            <a:avLst>
              <a:gd name="adj" fmla="val 3836"/>
            </a:avLst>
          </a:prstGeom>
          <a:solidFill>
            <a:srgbClr val="1E2260"/>
          </a:solidFill>
          <a:ln w="9525">
            <a:solidFill>
              <a:srgbClr val="353B8F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8375904" y="2560320"/>
            <a:ext cx="685800" cy="685800"/>
          </a:xfrm>
          <a:prstGeom prst="ellipse">
            <a:avLst/>
          </a:prstGeom>
          <a:solidFill>
            <a:srgbClr val="4A7DFF"/>
          </a:solidFill>
          <a:ln/>
        </p:spPr>
      </p:sp>
      <p:sp>
        <p:nvSpPr>
          <p:cNvPr id="18" name="Text 15"/>
          <p:cNvSpPr/>
          <p:nvPr/>
        </p:nvSpPr>
        <p:spPr>
          <a:xfrm>
            <a:off x="8375904" y="2560320"/>
            <a:ext cx="685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900" dirty="0"/>
          </a:p>
        </p:txBody>
      </p:sp>
      <p:sp>
        <p:nvSpPr>
          <p:cNvPr id="19" name="Text 16"/>
          <p:cNvSpPr/>
          <p:nvPr/>
        </p:nvSpPr>
        <p:spPr>
          <a:xfrm>
            <a:off x="8375904" y="3429000"/>
            <a:ext cx="2971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Frontend (What Users See)</a:t>
            </a:r>
            <a:endParaRPr lang="en-US" sz="1650" dirty="0"/>
          </a:p>
        </p:txBody>
      </p:sp>
      <p:sp>
        <p:nvSpPr>
          <p:cNvPr id="20" name="Text 17"/>
          <p:cNvSpPr/>
          <p:nvPr/>
        </p:nvSpPr>
        <p:spPr>
          <a:xfrm>
            <a:off x="8375904" y="4069080"/>
            <a:ext cx="2971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D6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webpage showing 7 categories around a central engine — shows questions, takes answers, gives instant feedback.</a:t>
            </a:r>
            <a:endParaRPr lang="en-US" sz="1250" dirty="0"/>
          </a:p>
        </p:txBody>
      </p:sp>
      <p:sp>
        <p:nvSpPr>
          <p:cNvPr id="21" name="Text 1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 · Cognitive Challenge Engine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ucid_ppt/assets/bg_dark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A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IN ACTION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Demo, Live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502920" y="1463040"/>
            <a:ext cx="5120640" cy="5074920"/>
          </a:xfrm>
          <a:prstGeom prst="roundRect">
            <a:avLst>
              <a:gd name="adj" fmla="val 1441"/>
            </a:avLst>
          </a:prstGeom>
          <a:solidFill>
            <a:srgbClr val="05060F"/>
          </a:solidFill>
          <a:ln w="15875">
            <a:solidFill>
              <a:srgbClr val="4A7DFF"/>
            </a:solidFill>
            <a:prstDash val="solid"/>
          </a:ln>
        </p:spPr>
      </p:sp>
      <p:pic>
        <p:nvPicPr>
          <p:cNvPr id="6" name="Image 1" descr="/home/claude/lucid_ppt/assets/demo_screensho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45920"/>
            <a:ext cx="4754880" cy="47091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43600" y="1554480"/>
            <a:ext cx="5715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50" dirty="0">
                <a:solidFill>
                  <a:srgbClr val="D6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the actual working demo. It mirrors the original mind map exactly:</a:t>
            </a:r>
            <a:endParaRPr lang="en-US" sz="1450" dirty="0"/>
          </a:p>
        </p:txBody>
      </p:sp>
      <p:sp>
        <p:nvSpPr>
          <p:cNvPr id="8" name="Shape 4"/>
          <p:cNvSpPr/>
          <p:nvPr/>
        </p:nvSpPr>
        <p:spPr>
          <a:xfrm>
            <a:off x="5943600" y="2313432"/>
            <a:ext cx="182880" cy="182880"/>
          </a:xfrm>
          <a:prstGeom prst="ellipse">
            <a:avLst/>
          </a:prstGeom>
          <a:solidFill>
            <a:srgbClr val="4A7DFF"/>
          </a:solidFill>
          <a:ln/>
        </p:spPr>
      </p:sp>
      <p:sp>
        <p:nvSpPr>
          <p:cNvPr id="9" name="Text 5"/>
          <p:cNvSpPr/>
          <p:nvPr/>
        </p:nvSpPr>
        <p:spPr>
          <a:xfrm>
            <a:off x="6309360" y="2240280"/>
            <a:ext cx="5349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7A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glowing center circle: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6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‘Cognitive Challenge Engine’ — click it for a random challenge.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5943600" y="3364992"/>
            <a:ext cx="182880" cy="182880"/>
          </a:xfrm>
          <a:prstGeom prst="ellipse">
            <a:avLst/>
          </a:prstGeom>
          <a:solidFill>
            <a:srgbClr val="4A7DFF"/>
          </a:solidFill>
          <a:ln/>
        </p:spPr>
      </p:sp>
      <p:sp>
        <p:nvSpPr>
          <p:cNvPr id="11" name="Text 7"/>
          <p:cNvSpPr/>
          <p:nvPr/>
        </p:nvSpPr>
        <p:spPr>
          <a:xfrm>
            <a:off x="6309360" y="3291840"/>
            <a:ext cx="5349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7A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category nodes: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6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click on any node (like ‘Mathematical Problems’) requests a fresh question from Gemini AI.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5943600" y="4416552"/>
            <a:ext cx="182880" cy="182880"/>
          </a:xfrm>
          <a:prstGeom prst="ellipse">
            <a:avLst/>
          </a:prstGeom>
          <a:solidFill>
            <a:srgbClr val="4A7DFF"/>
          </a:solidFill>
          <a:ln/>
        </p:spPr>
      </p:sp>
      <p:sp>
        <p:nvSpPr>
          <p:cNvPr id="13" name="Text 9"/>
          <p:cNvSpPr/>
          <p:nvPr/>
        </p:nvSpPr>
        <p:spPr>
          <a:xfrm>
            <a:off x="6309360" y="4343400"/>
            <a:ext cx="5349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7A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dropdown: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6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/ Medium / Hard — changes how simple or complex the question is.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5943600" y="5468112"/>
            <a:ext cx="182880" cy="182880"/>
          </a:xfrm>
          <a:prstGeom prst="ellipse">
            <a:avLst/>
          </a:prstGeom>
          <a:solidFill>
            <a:srgbClr val="4A7DFF"/>
          </a:solidFill>
          <a:ln/>
        </p:spPr>
      </p:sp>
      <p:sp>
        <p:nvSpPr>
          <p:cNvPr id="15" name="Text 11"/>
          <p:cNvSpPr/>
          <p:nvPr/>
        </p:nvSpPr>
        <p:spPr>
          <a:xfrm>
            <a:off x="6309360" y="5394960"/>
            <a:ext cx="5349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b="1" dirty="0">
                <a:solidFill>
                  <a:srgbClr val="7A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card: </a:t>
            </a:r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6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a live example: ‘Solve for x: 4x − 7 = 25’ at Medium difficulty, with an answer box and Submit button.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 · Cognitive Challenge Engine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ucid_ppt/assets/bg_dark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A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WORKFLOW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Works, Step by Step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548640" y="1581912"/>
            <a:ext cx="420624" cy="420624"/>
          </a:xfrm>
          <a:prstGeom prst="ellipse">
            <a:avLst/>
          </a:prstGeom>
          <a:solidFill>
            <a:srgbClr val="4A7DFF"/>
          </a:solidFill>
          <a:ln/>
        </p:spPr>
      </p:sp>
      <p:sp>
        <p:nvSpPr>
          <p:cNvPr id="6" name="Text 3"/>
          <p:cNvSpPr/>
          <p:nvPr/>
        </p:nvSpPr>
        <p:spPr>
          <a:xfrm>
            <a:off x="548640" y="1581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1097280" y="1554480"/>
            <a:ext cx="4800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6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clicks a category (e.g. Math) with a difficulty (e.g. Medium).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295144"/>
            <a:ext cx="420624" cy="420624"/>
          </a:xfrm>
          <a:prstGeom prst="ellipse">
            <a:avLst/>
          </a:prstGeom>
          <a:solidFill>
            <a:srgbClr val="4A7DFF"/>
          </a:solidFill>
          <a:ln/>
        </p:spPr>
      </p:sp>
      <p:sp>
        <p:nvSpPr>
          <p:cNvPr id="9" name="Text 6"/>
          <p:cNvSpPr/>
          <p:nvPr/>
        </p:nvSpPr>
        <p:spPr>
          <a:xfrm>
            <a:off x="548640" y="2295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1097280" y="2267712"/>
            <a:ext cx="4800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6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webpage sends this request to the backend server.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48640" y="3008376"/>
            <a:ext cx="420624" cy="420624"/>
          </a:xfrm>
          <a:prstGeom prst="ellipse">
            <a:avLst/>
          </a:prstGeom>
          <a:solidFill>
            <a:srgbClr val="4A7DFF"/>
          </a:solidFill>
          <a:ln/>
        </p:spPr>
      </p:sp>
      <p:sp>
        <p:nvSpPr>
          <p:cNvPr id="12" name="Text 9"/>
          <p:cNvSpPr/>
          <p:nvPr/>
        </p:nvSpPr>
        <p:spPr>
          <a:xfrm>
            <a:off x="548640" y="3008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50" dirty="0"/>
          </a:p>
        </p:txBody>
      </p:sp>
      <p:sp>
        <p:nvSpPr>
          <p:cNvPr id="13" name="Text 10"/>
          <p:cNvSpPr/>
          <p:nvPr/>
        </p:nvSpPr>
        <p:spPr>
          <a:xfrm>
            <a:off x="1097280" y="2980944"/>
            <a:ext cx="4800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6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backend picks a random sub-topic and looks up what that difficulty means for this category.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548640" y="3721608"/>
            <a:ext cx="420624" cy="420624"/>
          </a:xfrm>
          <a:prstGeom prst="ellipse">
            <a:avLst/>
          </a:prstGeom>
          <a:solidFill>
            <a:srgbClr val="4A7DFF"/>
          </a:solidFill>
          <a:ln/>
        </p:spPr>
      </p:sp>
      <p:sp>
        <p:nvSpPr>
          <p:cNvPr id="15" name="Text 12"/>
          <p:cNvSpPr/>
          <p:nvPr/>
        </p:nvSpPr>
        <p:spPr>
          <a:xfrm>
            <a:off x="548640" y="3721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350" dirty="0"/>
          </a:p>
        </p:txBody>
      </p:sp>
      <p:sp>
        <p:nvSpPr>
          <p:cNvPr id="16" name="Text 13"/>
          <p:cNvSpPr/>
          <p:nvPr/>
        </p:nvSpPr>
        <p:spPr>
          <a:xfrm>
            <a:off x="1097280" y="3694176"/>
            <a:ext cx="4800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6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backend sends detailed instructions to Gemini AI, including a random seed for variety.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263640" y="1581912"/>
            <a:ext cx="420624" cy="420624"/>
          </a:xfrm>
          <a:prstGeom prst="ellipse">
            <a:avLst/>
          </a:prstGeom>
          <a:solidFill>
            <a:srgbClr val="4A7DFF"/>
          </a:solidFill>
          <a:ln/>
        </p:spPr>
      </p:sp>
      <p:sp>
        <p:nvSpPr>
          <p:cNvPr id="18" name="Text 15"/>
          <p:cNvSpPr/>
          <p:nvPr/>
        </p:nvSpPr>
        <p:spPr>
          <a:xfrm>
            <a:off x="6263640" y="158191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350" dirty="0"/>
          </a:p>
        </p:txBody>
      </p:sp>
      <p:sp>
        <p:nvSpPr>
          <p:cNvPr id="19" name="Text 16"/>
          <p:cNvSpPr/>
          <p:nvPr/>
        </p:nvSpPr>
        <p:spPr>
          <a:xfrm>
            <a:off x="6812280" y="1554480"/>
            <a:ext cx="4800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6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Gemini generates a fresh question, answer, choices (if any), and a short explanation.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6263640" y="2295144"/>
            <a:ext cx="420624" cy="420624"/>
          </a:xfrm>
          <a:prstGeom prst="ellipse">
            <a:avLst/>
          </a:prstGeom>
          <a:solidFill>
            <a:srgbClr val="4A7DFF"/>
          </a:solidFill>
          <a:ln/>
        </p:spPr>
      </p:sp>
      <p:sp>
        <p:nvSpPr>
          <p:cNvPr id="21" name="Text 18"/>
          <p:cNvSpPr/>
          <p:nvPr/>
        </p:nvSpPr>
        <p:spPr>
          <a:xfrm>
            <a:off x="6263640" y="229514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6812280" y="2267712"/>
            <a:ext cx="4800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6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backend stores the answer safely on the server and sends only the question to the webpage.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6263640" y="3008376"/>
            <a:ext cx="420624" cy="420624"/>
          </a:xfrm>
          <a:prstGeom prst="ellipse">
            <a:avLst/>
          </a:prstGeom>
          <a:solidFill>
            <a:srgbClr val="4A7DFF"/>
          </a:solidFill>
          <a:ln/>
        </p:spPr>
      </p:sp>
      <p:sp>
        <p:nvSpPr>
          <p:cNvPr id="24" name="Text 21"/>
          <p:cNvSpPr/>
          <p:nvPr/>
        </p:nvSpPr>
        <p:spPr>
          <a:xfrm>
            <a:off x="6263640" y="30083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350" dirty="0"/>
          </a:p>
        </p:txBody>
      </p:sp>
      <p:sp>
        <p:nvSpPr>
          <p:cNvPr id="25" name="Text 22"/>
          <p:cNvSpPr/>
          <p:nvPr/>
        </p:nvSpPr>
        <p:spPr>
          <a:xfrm>
            <a:off x="6812280" y="2980944"/>
            <a:ext cx="48006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D6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user answers, and the server checks it and replies: correct or incorrect, with an explanation.</a:t>
            </a:r>
            <a:endParaRPr lang="en-US" sz="1250" dirty="0"/>
          </a:p>
        </p:txBody>
      </p:sp>
      <p:sp>
        <p:nvSpPr>
          <p:cNvPr id="26" name="Text 2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 · Cognitive Challenge Engine</a:t>
            </a:r>
            <a:endParaRPr lang="en-US" sz="1000" dirty="0"/>
          </a:p>
        </p:txBody>
      </p:sp>
      <p:sp>
        <p:nvSpPr>
          <p:cNvPr id="27" name="Text 24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ucid_ppt/assets/bg_dark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A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Tools and Technologies Used</a:t>
            </a:r>
            <a:endParaRPr lang="en-US" sz="3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00200"/>
          <a:ext cx="11064240" cy="3383280"/>
        </p:xfrm>
        <a:graphic>
          <a:graphicData uri="http://schemas.openxmlformats.org/drawingml/2006/table">
            <a:tbl>
              <a:tblPr/>
              <a:tblGrid>
                <a:gridCol w="2743200"/>
                <a:gridCol w="3017520"/>
                <a:gridCol w="5303520"/>
              </a:tblGrid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Part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37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Used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37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37A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6D9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Question generation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6D9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Google Gemini AI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6D9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(gemini-3.5-flash-lite)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6D9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The AI model that invents each question, its answer, and an explanation.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3A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6D9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server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6D9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+ FastAPI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6D9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lightweight web server that handles requests and talks to the AI.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4A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6D9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(webpage)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6D9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HTML, CSS, JavaScript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6D9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Draws the puzzle map, shows questions, sends answers to the server.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3A"/>
                    </a:solidFill>
                  </a:tcPr>
                </a:tc>
              </a:tr>
              <a:tr h="67665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6D9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Communication format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6D9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6D9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structured text format used to pass data between all the parts.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4A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548640" y="5257800"/>
            <a:ext cx="11064240" cy="1051560"/>
          </a:xfrm>
          <a:prstGeom prst="roundRect">
            <a:avLst>
              <a:gd name="adj" fmla="val 10435"/>
            </a:avLst>
          </a:prstGeom>
          <a:solidFill>
            <a:srgbClr val="1E2260"/>
          </a:solidFill>
          <a:ln w="9525">
            <a:solidFill>
              <a:srgbClr val="353B8F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868680" y="5257800"/>
            <a:ext cx="104241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6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short: Python runs the server, FastAPI makes the web server easy to build, and Gemini is Google's AI model that creates the actual puzzle content.</a:t>
            </a:r>
            <a:endParaRPr lang="en-US" sz="1300" dirty="0"/>
          </a:p>
        </p:txBody>
      </p:sp>
      <p:sp>
        <p:nvSpPr>
          <p:cNvPr id="8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 · Cognitive Challenge Engine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ucid_ppt/assets/bg_dark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A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Sample Questions Look Like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548640" y="13716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6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are examples, not fixed questions — the AI creates new ones like this every time.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11064240" cy="4114800"/>
        </p:xfrm>
        <a:graphic>
          <a:graphicData uri="http://schemas.openxmlformats.org/drawingml/2006/table">
            <a:tbl>
              <a:tblPr/>
              <a:tblGrid>
                <a:gridCol w="2834640"/>
                <a:gridCol w="5577840"/>
                <a:gridCol w="2651760"/>
              </a:tblGrid>
              <a:tr h="5143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37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Question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37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 Answer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37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6D9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Mathematical Problems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6D9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15% of 60?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6D9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3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6D9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Logic Puzzles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6D9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comes next: 2, 4, 6, 8, 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6D9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4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6D9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Challenges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6D9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Memorize: apple, chair, river, lamp.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6D9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was the 3rd word?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6D9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river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3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6D9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 Games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6D9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Unscramble this word: NELIST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6D9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LISTEN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4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6D9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Pattern Recognition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6D9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Circle, Square, Circle, Square, 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6D9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Circle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3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6D9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Riddles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6D9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has hands but cannot clap?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6D9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clock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4A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6D9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Quick Quizzes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6D9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Which planet is known as the Red Planet?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50" dirty="0">
                          <a:solidFill>
                            <a:srgbClr val="D6D9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3A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 · Cognitive Challenge Engine</a:t>
            </a:r>
            <a:endParaRPr lang="en-US" sz="1000" dirty="0"/>
          </a:p>
        </p:txBody>
      </p:sp>
      <p:sp>
        <p:nvSpPr>
          <p:cNvPr id="8" name="Text 4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ucid_ppt/assets/bg_dark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A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/ MEDIUM / HARD — NEVER REPEATING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Difficulty Levels &amp; Fresh Questions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548640" y="1463040"/>
            <a:ext cx="11064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6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rules define what each difficulty means per category — and the server adds randomness so the same click never gives the same question twice.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11064240" cy="2331720"/>
        </p:xfrm>
        <a:graphic>
          <a:graphicData uri="http://schemas.openxmlformats.org/drawingml/2006/table">
            <a:tbl>
              <a:tblPr/>
              <a:tblGrid>
                <a:gridCol w="2651760"/>
                <a:gridCol w="2807208"/>
                <a:gridCol w="2807208"/>
                <a:gridCol w="2798064"/>
              </a:tblGrid>
              <a:tr h="5829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37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Easy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37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37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C337A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6D9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Math Problems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6D9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Numbers under 20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6D9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Two-digit numbers,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6D9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one-step algebra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6D9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Multi-step arithmetic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6D9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or algebra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3A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6D9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Word Games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6D9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4-5 letter word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6D9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6-8 letter word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4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6D9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9+ letter word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1B4A"/>
                    </a:solidFill>
                  </a:tcPr>
                </a:tc>
              </a:tr>
              <a:tr h="58293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6D9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 Challenges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6D9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3-4 items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6D9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5-6 items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50" dirty="0">
                          <a:solidFill>
                            <a:srgbClr val="D6D9F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7-8 items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353B8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143A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4709160"/>
            <a:ext cx="11064240" cy="1600200"/>
          </a:xfrm>
          <a:prstGeom prst="roundRect">
            <a:avLst>
              <a:gd name="adj" fmla="val 6857"/>
            </a:avLst>
          </a:prstGeom>
          <a:solidFill>
            <a:srgbClr val="1E2260"/>
          </a:solidFill>
          <a:ln w="12700">
            <a:solidFill>
              <a:srgbClr val="4A7DFF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868680" y="4709160"/>
            <a:ext cx="10424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D6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Staying fresh: the server (not the AI) randomly picks the sub-topic each time, and adds a random seed to every request — telling the AI to invent new numbers and words instead of repeating a previous question.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 · Cognitive Challenge Engine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ucid_ppt/assets/bg_dark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A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GETTING STARTED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Demo Is Run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1E2260"/>
          </a:solidFill>
          <a:ln w="9525">
            <a:solidFill>
              <a:srgbClr val="353B8F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777240" y="1837944"/>
            <a:ext cx="530352" cy="530352"/>
          </a:xfrm>
          <a:prstGeom prst="ellipse">
            <a:avLst/>
          </a:prstGeom>
          <a:solidFill>
            <a:srgbClr val="4A7DFF"/>
          </a:solidFill>
          <a:ln/>
        </p:spPr>
      </p:sp>
      <p:sp>
        <p:nvSpPr>
          <p:cNvPr id="7" name="Text 4"/>
          <p:cNvSpPr/>
          <p:nvPr/>
        </p:nvSpPr>
        <p:spPr>
          <a:xfrm>
            <a:off x="777240" y="183794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508760" y="164592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6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the required Python tools (FastAPI, the Gemini AI library, and Uvicorn).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48640" y="269748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1E2260"/>
          </a:solidFill>
          <a:ln w="9525">
            <a:solidFill>
              <a:srgbClr val="353B8F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77240" y="2889504"/>
            <a:ext cx="530352" cy="530352"/>
          </a:xfrm>
          <a:prstGeom prst="ellipse">
            <a:avLst/>
          </a:prstGeom>
          <a:solidFill>
            <a:srgbClr val="4A7DFF"/>
          </a:solidFill>
          <a:ln/>
        </p:spPr>
      </p:sp>
      <p:sp>
        <p:nvSpPr>
          <p:cNvPr id="11" name="Text 8"/>
          <p:cNvSpPr/>
          <p:nvPr/>
        </p:nvSpPr>
        <p:spPr>
          <a:xfrm>
            <a:off x="777240" y="288950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/>
          <p:nvPr/>
        </p:nvSpPr>
        <p:spPr>
          <a:xfrm>
            <a:off x="1508760" y="269748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6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a free API key from Google's AI Studio website.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48640" y="374904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1E2260"/>
          </a:solidFill>
          <a:ln w="9525">
            <a:solidFill>
              <a:srgbClr val="353B8F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77240" y="3941064"/>
            <a:ext cx="530352" cy="530352"/>
          </a:xfrm>
          <a:prstGeom prst="ellipse">
            <a:avLst/>
          </a:prstGeom>
          <a:solidFill>
            <a:srgbClr val="4A7DFF"/>
          </a:solidFill>
          <a:ln/>
        </p:spPr>
      </p:sp>
      <p:sp>
        <p:nvSpPr>
          <p:cNvPr id="15" name="Text 12"/>
          <p:cNvSpPr/>
          <p:nvPr/>
        </p:nvSpPr>
        <p:spPr>
          <a:xfrm>
            <a:off x="777240" y="394106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1508760" y="374904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6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 that key so the program can use it, then start the local server with one command.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548640" y="4800600"/>
            <a:ext cx="11064240" cy="914400"/>
          </a:xfrm>
          <a:prstGeom prst="roundRect">
            <a:avLst>
              <a:gd name="adj" fmla="val 10000"/>
            </a:avLst>
          </a:prstGeom>
          <a:solidFill>
            <a:srgbClr val="1E2260"/>
          </a:solidFill>
          <a:ln w="9525">
            <a:solidFill>
              <a:srgbClr val="353B8F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77240" y="4992624"/>
            <a:ext cx="530352" cy="530352"/>
          </a:xfrm>
          <a:prstGeom prst="ellipse">
            <a:avLst/>
          </a:prstGeom>
          <a:solidFill>
            <a:srgbClr val="4A7DFF"/>
          </a:solidFill>
          <a:ln/>
        </p:spPr>
      </p:sp>
      <p:sp>
        <p:nvSpPr>
          <p:cNvPr id="19" name="Text 16"/>
          <p:cNvSpPr/>
          <p:nvPr/>
        </p:nvSpPr>
        <p:spPr>
          <a:xfrm>
            <a:off x="777240" y="499262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1508760" y="4800600"/>
            <a:ext cx="9966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D6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webpage in a browser to use the demo.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548640" y="589788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9AA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payment or credit card is needed — Google's free tier is sufficient for building and testing.</a:t>
            </a:r>
            <a:endParaRPr lang="en-US" sz="1350" dirty="0"/>
          </a:p>
        </p:txBody>
      </p:sp>
      <p:sp>
        <p:nvSpPr>
          <p:cNvPr id="22" name="Text 1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 · Cognitive Challenge Engine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ucid_ppt/assets/bg_dark_conten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A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SCOPE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Possible Next Steps</a:t>
            </a:r>
            <a:endParaRPr lang="en-US" sz="3300" dirty="0"/>
          </a:p>
        </p:txBody>
      </p:sp>
      <p:sp>
        <p:nvSpPr>
          <p:cNvPr id="5" name="Shape 2"/>
          <p:cNvSpPr/>
          <p:nvPr/>
        </p:nvSpPr>
        <p:spPr>
          <a:xfrm>
            <a:off x="548640" y="1645920"/>
            <a:ext cx="5349240" cy="2103120"/>
          </a:xfrm>
          <a:prstGeom prst="roundRect">
            <a:avLst>
              <a:gd name="adj" fmla="val 5217"/>
            </a:avLst>
          </a:prstGeom>
          <a:solidFill>
            <a:srgbClr val="27306E"/>
          </a:solidFill>
          <a:ln w="19050">
            <a:solidFill>
              <a:srgbClr val="4A7DF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22960" y="187452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A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Connect to the Flutter App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822960" y="2468880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Wire this backend into the Lucid Flutter mobile app, so the alarm screen calls these APIs directly for its puzzles.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263640" y="1645920"/>
            <a:ext cx="5349240" cy="2103120"/>
          </a:xfrm>
          <a:prstGeom prst="roundRect">
            <a:avLst>
              <a:gd name="adj" fmla="val 5217"/>
            </a:avLst>
          </a:prstGeom>
          <a:solidFill>
            <a:srgbClr val="1E2260"/>
          </a:solidFill>
          <a:ln w="9525">
            <a:solidFill>
              <a:srgbClr val="353B8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37960" y="187452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A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 Progress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6537960" y="2468880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 database to track scores and history over time.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48640" y="3977640"/>
            <a:ext cx="5349240" cy="2103120"/>
          </a:xfrm>
          <a:prstGeom prst="roundRect">
            <a:avLst>
              <a:gd name="adj" fmla="val 5217"/>
            </a:avLst>
          </a:prstGeom>
          <a:solidFill>
            <a:srgbClr val="1E2260"/>
          </a:solidFill>
          <a:ln w="9525">
            <a:solidFill>
              <a:srgbClr val="353B8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420624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A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Smarter Answer Checking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822960" y="4800600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close variations in answers, especially for math and riddles.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6263640" y="3977640"/>
            <a:ext cx="5349240" cy="2103120"/>
          </a:xfrm>
          <a:prstGeom prst="roundRect">
            <a:avLst>
              <a:gd name="adj" fmla="val 5217"/>
            </a:avLst>
          </a:prstGeom>
          <a:solidFill>
            <a:srgbClr val="1E2260"/>
          </a:solidFill>
          <a:ln w="9525">
            <a:solidFill>
              <a:srgbClr val="353B8F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37960" y="4206240"/>
            <a:ext cx="4800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A2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Accounts &amp; Leaderboards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6537960" y="4800600"/>
            <a:ext cx="4800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D6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 multiple users track their own scores and compare with others.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9AA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 · Cognitive Challenge Engine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1133856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AA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lucid_ppt/assets/bg_dark_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7AA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4" name="Text 1"/>
          <p:cNvSpPr/>
          <p:nvPr/>
        </p:nvSpPr>
        <p:spPr>
          <a:xfrm>
            <a:off x="731520" y="12344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Mind Map to Working Demo</a:t>
            </a:r>
            <a:endParaRPr lang="en-US" sz="3300" dirty="0"/>
          </a:p>
        </p:txBody>
      </p:sp>
      <p:sp>
        <p:nvSpPr>
          <p:cNvPr id="5" name="Text 2"/>
          <p:cNvSpPr/>
          <p:nvPr/>
        </p:nvSpPr>
        <p:spPr>
          <a:xfrm>
            <a:off x="731520" y="214884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600" dirty="0">
                <a:solidFill>
                  <a:srgbClr val="D6D9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from a simple hand-drawn mind map, a fully working demo has been built — using Gemini AI to generate fresh puzzles across all 7 categories, a Python FastAPI backend, and a webpage matching the original design. This same idea powers real products too: brain-training apps, alarm-clock apps like Lucid, and educational practice tools.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731520" y="3794760"/>
            <a:ext cx="10515600" cy="1051560"/>
          </a:xfrm>
          <a:prstGeom prst="roundRect">
            <a:avLst>
              <a:gd name="adj" fmla="val 10435"/>
            </a:avLst>
          </a:prstGeom>
          <a:solidFill>
            <a:srgbClr val="1E2260"/>
          </a:solidFill>
          <a:ln w="12700">
            <a:solidFill>
              <a:srgbClr val="4A7DF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005840" y="3794760"/>
            <a:ext cx="99669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project is currently a working local demo, with a clear path to connect it to the Flutter app and grow it into a full product.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31520" y="6126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0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LUCID — Wake Up. Learn. Achieve.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Lucid - Cognitive Challenge Engine</dc:title>
  <dc:subject>PptxGenJS Presentation</dc:subject>
  <dc:creator>Nasritha</dc:creator>
  <cp:lastModifiedBy>Nasritha</cp:lastModifiedBy>
  <cp:revision>1</cp:revision>
  <dcterms:created xsi:type="dcterms:W3CDTF">2026-07-23T05:47:58Z</dcterms:created>
  <dcterms:modified xsi:type="dcterms:W3CDTF">2026-07-23T05:47:58Z</dcterms:modified>
</cp:coreProperties>
</file>